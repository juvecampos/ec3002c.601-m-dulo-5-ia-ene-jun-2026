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 u="none">
                <a:solidFill>
                  <a:srgbClr val="1F3864"/>
                </a:solidFill>
                <a:latin typeface="Helvetica Neue"/>
              </a:rPr>
              <a:t>Tecnológico de Monterrey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32004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1097280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7200" b="1" i="0" u="none">
                <a:solidFill>
                  <a:srgbClr val="1F3864"/>
                </a:solidFill>
                <a:latin typeface="Helvetica Neue"/>
              </a:rPr>
              <a:t>09b. APIs para LLMs</a:t>
            </a:r>
          </a:p>
          <a:p>
            <a:pPr algn="l">
              <a:spcAft>
                <a:spcPts val="600"/>
              </a:spcAft>
            </a:pPr>
            <a:r>
              <a:rPr sz="3200" b="1" i="0" u="none">
                <a:solidFill>
                  <a:srgbClr val="3B5C8B"/>
                </a:solidFill>
                <a:latin typeface="Helvetica Neue"/>
              </a:rPr>
              <a:t>Módulo 5. Inteligencia Artificial</a:t>
            </a:r>
          </a:p>
          <a:p>
            <a:pPr algn="l">
              <a:spcAft>
                <a:spcPts val="600"/>
              </a:spcAft>
            </a:pPr>
            <a:r>
              <a:rPr sz="2200" b="0" i="1" u="none">
                <a:solidFill>
                  <a:srgbClr val="555555"/>
                </a:solidFill>
                <a:latin typeface="Helvetica Neue"/>
              </a:rPr>
              <a:t>Complemento de la Clase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7680960"/>
            <a:ext cx="4572000" cy="1188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2000" b="1" i="0" u="none">
                <a:solidFill>
                  <a:srgbClr val="1F3864"/>
                </a:solidFill>
                <a:latin typeface="Helvetica Neue"/>
              </a:rPr>
              <a:t>Jorge Juvenal Campos Ferreira</a:t>
            </a:r>
          </a:p>
          <a:p>
            <a:pPr algn="r">
              <a:spcAft>
                <a:spcPts val="600"/>
              </a:spcAft>
            </a:pPr>
            <a:r>
              <a:rPr sz="1600" b="0" i="0" u="none">
                <a:solidFill>
                  <a:srgbClr val="C81F2D"/>
                </a:solidFill>
                <a:latin typeface="Helvetica Neue"/>
              </a:rPr>
              <a:t>juvenal.campos@tec.mx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8869680"/>
            <a:ext cx="12191695" cy="274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5340096" cy="7772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ctr"/>
            <a:r>
              <a:rPr sz="2600" b="1">
                <a:solidFill>
                  <a:srgbClr val="FFFFFF"/>
                </a:solidFill>
                <a:latin typeface="Helvetica Neue"/>
              </a:rPr>
              <a:t>¿Qué falta por cubrir?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972800" cy="6400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1400"/>
              </a:spcAft>
            </a:pPr>
            <a:r>
              <a:rPr sz="2600" b="0" i="0" u="none">
                <a:solidFill>
                  <a:srgbClr val="1A1A1A"/>
                </a:solidFill>
                <a:latin typeface="Helvetica Neue"/>
              </a:rPr>
              <a:t>En la clase anterior vimos el </a:t>
            </a:r>
            <a:r>
              <a:rPr sz="2600" b="1" i="0" u="none">
                <a:solidFill>
                  <a:srgbClr val="1A1A1A"/>
                </a:solidFill>
                <a:latin typeface="Helvetica Neue"/>
              </a:rPr>
              <a:t>patrón GET </a:t>
            </a:r>
            <a:r>
              <a:rPr sz="2600" b="0" i="0" u="none">
                <a:solidFill>
                  <a:srgbClr val="1A1A1A"/>
                </a:solidFill>
                <a:latin typeface="Helvetica Neue"/>
              </a:rPr>
              <a:t>con PokéAPI.</a:t>
            </a:r>
          </a:p>
          <a:p>
            <a:pPr algn="l">
              <a:spcAft>
                <a:spcPts val="2000"/>
              </a:spcAft>
            </a:pPr>
            <a:r>
              <a:rPr sz="2600" b="0" i="0" u="none">
                <a:solidFill>
                  <a:srgbClr val="1A1A1A"/>
                </a:solidFill>
                <a:latin typeface="Helvetica Neue"/>
              </a:rPr>
              <a:t>Pero el </a:t>
            </a:r>
            <a:r>
              <a:rPr sz="2600" b="1" i="0" u="none">
                <a:solidFill>
                  <a:srgbClr val="1A1A1A"/>
                </a:solidFill>
                <a:latin typeface="Helvetica Neue"/>
              </a:rPr>
              <a:t>ejercicio práctico </a:t>
            </a:r>
            <a:r>
              <a:rPr sz="2600" b="0" i="0" u="none">
                <a:solidFill>
                  <a:srgbClr val="1A1A1A"/>
                </a:solidFill>
                <a:latin typeface="Helvetica Neue"/>
              </a:rPr>
              <a:t>exige algo más:</a:t>
            </a:r>
          </a:p>
          <a:p>
            <a:pPr algn="l" indent="-342900" marL="457200">
              <a:spcAft>
                <a:spcPts val="1000"/>
              </a:spcAft>
              <a:buChar char="•"/>
              <a:buSzPct val="100000"/>
            </a:pPr>
            <a:r>
              <a:rPr sz="2400" b="0" i="0" u="none">
                <a:solidFill>
                  <a:srgbClr val="1A1A1A"/>
                </a:solidFill>
                <a:latin typeface="Helvetica Neue"/>
              </a:rPr>
              <a:t>Llamar a </a:t>
            </a:r>
            <a:r>
              <a:rPr sz="2400" b="0" i="0" u="sng">
                <a:solidFill>
                  <a:srgbClr val="1A1A1A"/>
                </a:solidFill>
                <a:latin typeface="Helvetica Neue"/>
              </a:rPr>
              <a:t>APIs de LLMs</a:t>
            </a:r>
            <a:r>
              <a:rPr sz="2400" b="0" i="0" u="none">
                <a:solidFill>
                  <a:srgbClr val="1A1A1A"/>
                </a:solidFill>
                <a:latin typeface="Helvetica Neue"/>
              </a:rPr>
              <a:t> (Gemini, OpenAI, Claude)</a:t>
            </a:r>
          </a:p>
          <a:p>
            <a:pPr algn="l" indent="-342900" marL="457200">
              <a:spcAft>
                <a:spcPts val="1000"/>
              </a:spcAft>
              <a:buChar char="•"/>
              <a:buSzPct val="100000"/>
            </a:pPr>
            <a:r>
              <a:rPr sz="2400" b="0" i="0" u="none">
                <a:solidFill>
                  <a:srgbClr val="1A1A1A"/>
                </a:solidFill>
                <a:latin typeface="Helvetica Neue"/>
              </a:rPr>
              <a:t>Usar </a:t>
            </a:r>
            <a:r>
              <a:rPr sz="2400" b="0" i="0" u="sng">
                <a:solidFill>
                  <a:srgbClr val="1A1A1A"/>
                </a:solidFill>
                <a:latin typeface="Helvetica Neue"/>
              </a:rPr>
              <a:t>Ollama</a:t>
            </a:r>
            <a:r>
              <a:rPr sz="2400" b="0" i="0" u="none">
                <a:solidFill>
                  <a:srgbClr val="1A1A1A"/>
                </a:solidFill>
                <a:latin typeface="Helvetica Neue"/>
              </a:rPr>
              <a:t> para correr modelos de forma local</a:t>
            </a:r>
          </a:p>
          <a:p>
            <a:pPr algn="l" indent="-342900" marL="457200">
              <a:spcAft>
                <a:spcPts val="1000"/>
              </a:spcAft>
              <a:buChar char="•"/>
              <a:buSzPct val="100000"/>
            </a:pPr>
            <a:r>
              <a:rPr sz="2400" b="0" i="0" u="none">
                <a:solidFill>
                  <a:srgbClr val="1A1A1A"/>
                </a:solidFill>
                <a:latin typeface="Helvetica Neue"/>
              </a:rPr>
              <a:t>Usar el paquete </a:t>
            </a:r>
            <a:r>
              <a:rPr sz="2400" b="0" i="0" u="none">
                <a:solidFill>
                  <a:srgbClr val="1F3864"/>
                </a:solidFill>
                <a:latin typeface="Menlo"/>
              </a:rPr>
              <a:t>{ellmer}</a:t>
            </a:r>
          </a:p>
          <a:p>
            <a:pPr algn="l" indent="-342900" marL="457200">
              <a:spcAft>
                <a:spcPts val="1000"/>
              </a:spcAft>
              <a:buChar char="•"/>
              <a:buSzPct val="100000"/>
            </a:pPr>
            <a:r>
              <a:rPr sz="2400" b="0" i="0" u="none">
                <a:solidFill>
                  <a:srgbClr val="1A1A1A"/>
                </a:solidFill>
                <a:latin typeface="Helvetica Neue"/>
              </a:rPr>
              <a:t>Descargar comentarios con </a:t>
            </a:r>
            <a:r>
              <a:rPr sz="2400" b="0" i="0" u="none">
                <a:solidFill>
                  <a:srgbClr val="1F3864"/>
                </a:solidFill>
                <a:latin typeface="Menlo"/>
              </a:rPr>
              <a:t>{tuber}</a:t>
            </a:r>
          </a:p>
          <a:p>
            <a:pPr algn="l" indent="-342900" marL="457200">
              <a:spcAft>
                <a:spcPts val="1000"/>
              </a:spcAft>
              <a:buChar char="•"/>
              <a:buSzPct val="100000"/>
            </a:pPr>
            <a:r>
              <a:rPr sz="2400" b="0" i="0" u="none">
                <a:solidFill>
                  <a:srgbClr val="1A1A1A"/>
                </a:solidFill>
                <a:latin typeface="Helvetica Neue"/>
              </a:rPr>
              <a:t>Iterar múltiples llamadas de forma segura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3127248" cy="7772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ctr"/>
            <a:r>
              <a:rPr sz="2600" b="1">
                <a:solidFill>
                  <a:srgbClr val="FFFFFF"/>
                </a:solidFill>
                <a:latin typeface="Helvetica Neue"/>
              </a:rPr>
              <a:t>GET vs POST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920240"/>
            <a:ext cx="5212080" cy="4389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484632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4000" b="1" i="0" u="none">
                <a:solidFill>
                  <a:srgbClr val="FFFFFF"/>
                </a:solidFill>
                <a:latin typeface="Helvetica Neue"/>
              </a:rPr>
              <a:t>GET</a:t>
            </a:r>
          </a:p>
          <a:p>
            <a:pPr algn="l">
              <a:spcAft>
                <a:spcPts val="1600"/>
              </a:spcAft>
            </a:pPr>
            <a:r>
              <a:rPr sz="2200" b="0" i="1" u="none">
                <a:solidFill>
                  <a:srgbClr val="FFFFFF"/>
                </a:solidFill>
                <a:latin typeface="Helvetica Neue"/>
              </a:rPr>
              <a:t>"Dame algo"</a:t>
            </a:r>
          </a:p>
          <a:p>
            <a:pPr algn="l">
              <a:spcAft>
                <a:spcPts val="1000"/>
              </a:spcAft>
            </a:pPr>
            <a:r>
              <a:rPr sz="2000" b="0" i="0" u="none">
                <a:solidFill>
                  <a:srgbClr val="FFFFFF"/>
                </a:solidFill>
                <a:latin typeface="Helvetica Neue"/>
              </a:rPr>
              <a:t>Los parámetros van </a:t>
            </a:r>
            <a:r>
              <a:rPr sz="2000" b="0" i="0" u="sng">
                <a:solidFill>
                  <a:srgbClr val="FFFFFF"/>
                </a:solidFill>
                <a:latin typeface="Helvetica Neue"/>
              </a:rPr>
              <a:t>en la URL</a:t>
            </a:r>
            <a:r>
              <a:rPr sz="2000" b="0" i="0" u="none">
                <a:solidFill>
                  <a:srgbClr val="FFFFFF"/>
                </a:solidFill>
                <a:latin typeface="Helvetica Neue"/>
              </a:rPr>
              <a:t>.</a:t>
            </a:r>
          </a:p>
          <a:p>
            <a:pPr algn="l">
              <a:spcAft>
                <a:spcPts val="1400"/>
              </a:spcAft>
            </a:pPr>
            <a:r>
              <a:rPr sz="2000" b="0" i="0" u="none">
                <a:solidFill>
                  <a:srgbClr val="FFFFFF"/>
                </a:solidFill>
                <a:latin typeface="Helvetica Neue"/>
              </a:rPr>
              <a:t>Sirve para consultar datos que ya existen.</a:t>
            </a:r>
          </a:p>
          <a:p>
            <a:pPr algn="l">
              <a:spcAft>
                <a:spcPts val="600"/>
              </a:spcAft>
            </a:pPr>
            <a:r>
              <a:rPr sz="1800" b="0" i="1" u="none">
                <a:solidFill>
                  <a:srgbClr val="BBCCDD"/>
                </a:solidFill>
                <a:latin typeface="Helvetica Neue"/>
              </a:rPr>
              <a:t>Ejemplo: PokéAPI, INEGI, clima.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3640" y="1920240"/>
            <a:ext cx="5212080" cy="4389120"/>
          </a:xfrm>
          <a:prstGeom prst="rect">
            <a:avLst/>
          </a:prstGeom>
          <a:solidFill>
            <a:srgbClr val="3B5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2103120"/>
            <a:ext cx="484632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4000" b="1" i="0" u="none">
                <a:solidFill>
                  <a:srgbClr val="FFFFFF"/>
                </a:solidFill>
                <a:latin typeface="Helvetica Neue"/>
              </a:rPr>
              <a:t>POST</a:t>
            </a:r>
          </a:p>
          <a:p>
            <a:pPr algn="l">
              <a:spcAft>
                <a:spcPts val="1600"/>
              </a:spcAft>
            </a:pPr>
            <a:r>
              <a:rPr sz="2200" b="0" i="1" u="none">
                <a:solidFill>
                  <a:srgbClr val="FFFFFF"/>
                </a:solidFill>
                <a:latin typeface="Helvetica Neue"/>
              </a:rPr>
              <a:t>"Aquí te mando algo"</a:t>
            </a:r>
          </a:p>
          <a:p>
            <a:pPr algn="l">
              <a:spcAft>
                <a:spcPts val="1000"/>
              </a:spcAft>
            </a:pPr>
            <a:r>
              <a:rPr sz="2000" b="0" i="0" u="none">
                <a:solidFill>
                  <a:srgbClr val="FFFFFF"/>
                </a:solidFill>
                <a:latin typeface="Helvetica Neue"/>
              </a:rPr>
              <a:t>Los datos van en el </a:t>
            </a:r>
            <a:r>
              <a:rPr sz="2000" b="0" i="0" u="sng">
                <a:solidFill>
                  <a:srgbClr val="FFFFFF"/>
                </a:solidFill>
                <a:latin typeface="Helvetica Neue"/>
              </a:rPr>
              <a:t>body</a:t>
            </a:r>
            <a:r>
              <a:rPr sz="2000" b="0" i="0" u="none">
                <a:solidFill>
                  <a:srgbClr val="FFFFFF"/>
                </a:solidFill>
                <a:latin typeface="Helvetica Neue"/>
              </a:rPr>
              <a:t> (JSON).</a:t>
            </a:r>
          </a:p>
          <a:p>
            <a:pPr algn="l">
              <a:spcAft>
                <a:spcPts val="1400"/>
              </a:spcAft>
            </a:pPr>
            <a:r>
              <a:rPr sz="2000" b="0" i="0" u="none">
                <a:solidFill>
                  <a:srgbClr val="FFFFFF"/>
                </a:solidFill>
                <a:latin typeface="Helvetica Neue"/>
              </a:rPr>
              <a:t>Sirve para enviar información al servidor.</a:t>
            </a:r>
          </a:p>
          <a:p>
            <a:pPr algn="l">
              <a:spcAft>
                <a:spcPts val="600"/>
              </a:spcAft>
            </a:pPr>
            <a:r>
              <a:rPr sz="1800" b="0" i="1" u="none">
                <a:solidFill>
                  <a:srgbClr val="DDE6F0"/>
                </a:solidFill>
                <a:latin typeface="Helvetica Neue"/>
              </a:rPr>
              <a:t>Ejemplo: llamar a un LLM con tu prompt.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675120"/>
            <a:ext cx="1069848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 i="0" u="none">
                <a:solidFill>
                  <a:srgbClr val="1A1A1A"/>
                </a:solidFill>
                <a:latin typeface="Helvetica Neue"/>
              </a:rPr>
              <a:t>Las APIs de LLMs son </a:t>
            </a:r>
            <a:r>
              <a:rPr sz="2400" b="1" i="0" u="sng">
                <a:solidFill>
                  <a:srgbClr val="1F3864"/>
                </a:solidFill>
                <a:latin typeface="Helvetica Neue"/>
              </a:rPr>
              <a:t>siempre POST</a:t>
            </a:r>
            <a:r>
              <a:rPr sz="2400" b="0" i="0" u="none">
                <a:solidFill>
                  <a:srgbClr val="1A1A1A"/>
                </a:solidFill>
                <a:latin typeface="Helvetica Neue"/>
              </a:rPr>
              <a:t>: les mandamos el prompt en el body.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5340096" cy="7772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ctr"/>
            <a:r>
              <a:rPr sz="2600" b="1">
                <a:solidFill>
                  <a:srgbClr val="FFFFFF"/>
                </a:solidFill>
                <a:latin typeface="Helvetica Neue"/>
              </a:rPr>
              <a:t>Códigos de estado HTTP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i="0" u="none">
                <a:solidFill>
                  <a:srgbClr val="1A1A1A"/>
                </a:solidFill>
                <a:latin typeface="Helvetica Neue"/>
              </a:rPr>
              <a:t>Toda respuesta de API trae un </a:t>
            </a:r>
            <a:r>
              <a:rPr sz="2200" b="1" i="0" u="none">
                <a:solidFill>
                  <a:srgbClr val="1A1A1A"/>
                </a:solidFill>
                <a:latin typeface="Helvetica Neue"/>
              </a:rPr>
              <a:t>status code</a:t>
            </a:r>
            <a:r>
              <a:rPr sz="2200" b="0" i="0" u="none">
                <a:solidFill>
                  <a:srgbClr val="1A1A1A"/>
                </a:solidFill>
                <a:latin typeface="Helvetica Neue"/>
              </a:rPr>
              <a:t>. No solo 200.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651760"/>
            <a:ext cx="1188720" cy="5486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697479"/>
            <a:ext cx="11887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 i="0" u="none">
                <a:solidFill>
                  <a:srgbClr val="FFFFFF"/>
                </a:solidFill>
                <a:latin typeface="Menlo"/>
              </a:rPr>
              <a:t>200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697479"/>
            <a:ext cx="91440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 u="none">
                <a:solidFill>
                  <a:srgbClr val="1F3864"/>
                </a:solidFill>
                <a:latin typeface="Helvetica Neue"/>
              </a:rPr>
              <a:t>OK</a:t>
            </a:r>
            <a:r>
              <a:rPr sz="2000" b="0" i="0" u="none">
                <a:solidFill>
                  <a:srgbClr val="1A1A1A"/>
                </a:solidFill>
                <a:latin typeface="Helvetica Neue"/>
              </a:rPr>
              <a:t>  —  todo bien.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364991"/>
            <a:ext cx="1188720" cy="5486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410711"/>
            <a:ext cx="11887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 i="0" u="none">
                <a:solidFill>
                  <a:srgbClr val="FFFFFF"/>
                </a:solidFill>
                <a:latin typeface="Menlo"/>
              </a:rPr>
              <a:t>401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3410711"/>
            <a:ext cx="91440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 u="none">
                <a:solidFill>
                  <a:srgbClr val="1F3864"/>
                </a:solidFill>
                <a:latin typeface="Helvetica Neue"/>
              </a:rPr>
              <a:t>Unauthorized</a:t>
            </a:r>
            <a:r>
              <a:rPr sz="2000" b="0" i="0" u="none">
                <a:solidFill>
                  <a:srgbClr val="1A1A1A"/>
                </a:solidFill>
                <a:latin typeface="Helvetica Neue"/>
              </a:rPr>
              <a:t>  —  falta el token o está mal.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078224"/>
            <a:ext cx="1188720" cy="5486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123944"/>
            <a:ext cx="11887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 i="0" u="none">
                <a:solidFill>
                  <a:srgbClr val="FFFFFF"/>
                </a:solidFill>
                <a:latin typeface="Menlo"/>
              </a:rPr>
              <a:t>403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4123944"/>
            <a:ext cx="91440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 u="none">
                <a:solidFill>
                  <a:srgbClr val="1F3864"/>
                </a:solidFill>
                <a:latin typeface="Helvetica Neue"/>
              </a:rPr>
              <a:t>Forbidden</a:t>
            </a:r>
            <a:r>
              <a:rPr sz="2000" b="0" i="0" u="none">
                <a:solidFill>
                  <a:srgbClr val="1A1A1A"/>
                </a:solidFill>
                <a:latin typeface="Helvetica Neue"/>
              </a:rPr>
              <a:t>  —  tu token no tiene permisos.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791456"/>
            <a:ext cx="1188720" cy="5486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837176"/>
            <a:ext cx="11887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 i="0" u="none">
                <a:solidFill>
                  <a:srgbClr val="FFFFFF"/>
                </a:solidFill>
                <a:latin typeface="Menlo"/>
              </a:rPr>
              <a:t>404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4837176"/>
            <a:ext cx="91440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 u="none">
                <a:solidFill>
                  <a:srgbClr val="1F3864"/>
                </a:solidFill>
                <a:latin typeface="Helvetica Neue"/>
              </a:rPr>
              <a:t>Not Found</a:t>
            </a:r>
            <a:r>
              <a:rPr sz="2000" b="0" i="0" u="none">
                <a:solidFill>
                  <a:srgbClr val="1A1A1A"/>
                </a:solidFill>
                <a:latin typeface="Helvetica Neue"/>
              </a:rPr>
              <a:t>  —  el recurso no existe.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504688"/>
            <a:ext cx="1188720" cy="5486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550408"/>
            <a:ext cx="11887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 i="0" u="none">
                <a:solidFill>
                  <a:srgbClr val="FFFFFF"/>
                </a:solidFill>
                <a:latin typeface="Menlo"/>
              </a:rPr>
              <a:t>429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5550408"/>
            <a:ext cx="91440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 u="none">
                <a:solidFill>
                  <a:srgbClr val="1F3864"/>
                </a:solidFill>
                <a:latin typeface="Helvetica Neue"/>
              </a:rPr>
              <a:t>Too Many Requests</a:t>
            </a:r>
            <a:r>
              <a:rPr sz="2000" b="0" i="0" u="none">
                <a:solidFill>
                  <a:srgbClr val="1A1A1A"/>
                </a:solidFill>
                <a:latin typeface="Helvetica Neue"/>
              </a:rPr>
              <a:t>  —  excediste el rate limit.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6217920"/>
            <a:ext cx="1188720" cy="5486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6263640"/>
            <a:ext cx="11887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 i="0" u="none">
                <a:solidFill>
                  <a:srgbClr val="FFFFFF"/>
                </a:solidFill>
                <a:latin typeface="Menlo"/>
              </a:rPr>
              <a:t>500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6263640"/>
            <a:ext cx="91440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 u="none">
                <a:solidFill>
                  <a:srgbClr val="1F3864"/>
                </a:solidFill>
                <a:latin typeface="Helvetica Neue"/>
              </a:rPr>
              <a:t>Server Error</a:t>
            </a:r>
            <a:r>
              <a:rPr sz="2000" b="0" i="0" u="none">
                <a:solidFill>
                  <a:srgbClr val="1A1A1A"/>
                </a:solidFill>
                <a:latin typeface="Helvetica Neue"/>
              </a:rPr>
              <a:t>  —  falló el servidor, reintenta después.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804672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1" u="none">
                <a:solidFill>
                  <a:srgbClr val="555555"/>
                </a:solidFill>
                <a:latin typeface="Helvetica Neue"/>
              </a:rPr>
              <a:t>Siempre verifica con </a:t>
            </a:r>
            <a:r>
              <a:rPr sz="1700" b="0" i="0" u="none">
                <a:solidFill>
                  <a:srgbClr val="1F3864"/>
                </a:solidFill>
                <a:latin typeface="Menlo"/>
              </a:rPr>
              <a:t>httr::status_code(respuesta)</a:t>
            </a:r>
            <a:r>
              <a:rPr sz="1700" b="0" i="1" u="none">
                <a:solidFill>
                  <a:srgbClr val="555555"/>
                </a:solidFill>
                <a:latin typeface="Helvetica Neue"/>
              </a:rPr>
              <a:t> antes de procesar.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5541264" cy="7772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ctr"/>
            <a:r>
              <a:rPr sz="2600" b="1">
                <a:solidFill>
                  <a:srgbClr val="FFFFFF"/>
                </a:solidFill>
                <a:latin typeface="Helvetica Neue"/>
              </a:rPr>
              <a:t>Headers y autenticación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97280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1400"/>
              </a:spcAft>
            </a:pPr>
            <a:r>
              <a:rPr sz="2400" b="0" i="0" u="none">
                <a:solidFill>
                  <a:srgbClr val="1A1A1A"/>
                </a:solidFill>
                <a:latin typeface="Helvetica Neue"/>
              </a:rPr>
              <a:t>Los </a:t>
            </a:r>
            <a:r>
              <a:rPr sz="2400" b="1" i="0" u="none">
                <a:solidFill>
                  <a:srgbClr val="1A1A1A"/>
                </a:solidFill>
                <a:latin typeface="Helvetica Neue"/>
              </a:rPr>
              <a:t>headers</a:t>
            </a:r>
            <a:r>
              <a:rPr sz="2400" b="0" i="0" u="none">
                <a:solidFill>
                  <a:srgbClr val="1A1A1A"/>
                </a:solidFill>
                <a:latin typeface="Helvetica Neue"/>
              </a:rPr>
              <a:t> son metadatos que acompañan la petición.</a:t>
            </a:r>
          </a:p>
          <a:p>
            <a:pPr algn="l">
              <a:spcAft>
                <a:spcPts val="800"/>
              </a:spcAft>
            </a:pPr>
            <a:r>
              <a:rPr sz="2400" b="0" i="0" u="none">
                <a:solidFill>
                  <a:srgbClr val="1A1A1A"/>
                </a:solidFill>
                <a:latin typeface="Helvetica Neue"/>
              </a:rPr>
              <a:t>Dos headers clave para APIs modernas: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91840"/>
            <a:ext cx="1097280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 indent="-342900" marL="457200">
              <a:spcAft>
                <a:spcPts val="1000"/>
              </a:spcAft>
              <a:buChar char="•"/>
              <a:buSzPct val="100000"/>
            </a:pPr>
            <a:r>
              <a:rPr sz="2000" b="1" i="0" u="none">
                <a:solidFill>
                  <a:srgbClr val="1F3864"/>
                </a:solidFill>
                <a:latin typeface="Menlo"/>
              </a:rPr>
              <a:t>Authorization: Bearer &lt;TU_TOKEN&gt;</a:t>
            </a:r>
            <a:r>
              <a:rPr sz="2000" b="0" i="0" u="none">
                <a:solidFill>
                  <a:srgbClr val="1A1A1A"/>
                </a:solidFill>
                <a:latin typeface="Helvetica Neue"/>
              </a:rPr>
              <a:t>  —  quién eres.</a:t>
            </a:r>
          </a:p>
          <a:p>
            <a:pPr algn="l" indent="-342900" marL="457200">
              <a:spcAft>
                <a:spcPts val="600"/>
              </a:spcAft>
              <a:buChar char="•"/>
              <a:buSzPct val="100000"/>
            </a:pPr>
            <a:r>
              <a:rPr sz="2000" b="1" i="0" u="none">
                <a:solidFill>
                  <a:srgbClr val="1F3864"/>
                </a:solidFill>
                <a:latin typeface="Menlo"/>
              </a:rPr>
              <a:t>Content-Type: application/json</a:t>
            </a:r>
            <a:r>
              <a:rPr sz="2000" b="0" i="0" u="none">
                <a:solidFill>
                  <a:srgbClr val="1A1A1A"/>
                </a:solidFill>
                <a:latin typeface="Helvetica Neue"/>
              </a:rPr>
              <a:t>  —  qué formato envías.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303520"/>
            <a:ext cx="10881360" cy="3200400"/>
          </a:xfrm>
          <a:prstGeom prst="rect">
            <a:avLst/>
          </a:prstGeom>
          <a:solidFill>
            <a:srgbClr val="F4F6FA"/>
          </a:solidFill>
          <a:ln w="9525">
            <a:solidFill>
              <a:srgbClr val="D0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544068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i="1">
                <a:solidFill>
                  <a:srgbClr val="708090"/>
                </a:solidFill>
                <a:latin typeface="Menlo"/>
              </a:rPr>
              <a:t># Cargar el token guardado en .Renviron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1C2C4C"/>
                </a:solidFill>
                <a:latin typeface="Menlo"/>
              </a:rPr>
              <a:t>api_key &lt;- Sys.getenv("GEMINI_API_KEY")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1C2C4C"/>
                </a:solidFill>
                <a:latin typeface="Menlo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i="1">
                <a:solidFill>
                  <a:srgbClr val="708090"/>
                </a:solidFill>
                <a:latin typeface="Menlo"/>
              </a:rPr>
              <a:t># Construir los headers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1C2C4C"/>
                </a:solidFill>
                <a:latin typeface="Menlo"/>
              </a:rPr>
              <a:t>mis_headers &lt;- httr::add_headers(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1C2C4C"/>
                </a:solidFill>
                <a:latin typeface="Menlo"/>
              </a:rPr>
              <a:t>  `Authorization` = paste("Bearer", api_key),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1C2C4C"/>
                </a:solidFill>
                <a:latin typeface="Menlo"/>
              </a:rPr>
              <a:t>  `Content-Type`  = "application/json"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1C2C4C"/>
                </a:solidFill>
                <a:latin typeface="Menlo"/>
              </a:rPr>
              <a:t>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5138928" cy="7772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ctr"/>
            <a:r>
              <a:rPr sz="2600" b="1">
                <a:solidFill>
                  <a:srgbClr val="FFFFFF"/>
                </a:solidFill>
                <a:latin typeface="Helvetica Neue"/>
              </a:rPr>
              <a:t>POST directo con httr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i="0" u="none">
                <a:solidFill>
                  <a:srgbClr val="1A1A1A"/>
                </a:solidFill>
                <a:latin typeface="Helvetica Neue"/>
              </a:rPr>
              <a:t>Si quisiéramos llamar a Gemini </a:t>
            </a:r>
            <a:r>
              <a:rPr sz="2200" b="0" i="0" u="sng">
                <a:solidFill>
                  <a:srgbClr val="1A1A1A"/>
                </a:solidFill>
                <a:latin typeface="Helvetica Neue"/>
              </a:rPr>
              <a:t>sin cliente</a:t>
            </a:r>
            <a:r>
              <a:rPr sz="2200" b="0" i="0" u="none">
                <a:solidFill>
                  <a:srgbClr val="1A1A1A"/>
                </a:solidFill>
                <a:latin typeface="Helvetica Neue"/>
              </a:rPr>
              <a:t>, se vería así: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377440"/>
            <a:ext cx="10881360" cy="5394960"/>
          </a:xfrm>
          <a:prstGeom prst="rect">
            <a:avLst/>
          </a:prstGeom>
          <a:solidFill>
            <a:srgbClr val="F4F6FA"/>
          </a:solidFill>
          <a:ln w="9525">
            <a:solidFill>
              <a:srgbClr val="D0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2514600"/>
            <a:ext cx="10515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1C2C4C"/>
                </a:solidFill>
                <a:latin typeface="Menlo"/>
              </a:rPr>
              <a:t>library(httr)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1C2C4C"/>
                </a:solidFill>
                <a:latin typeface="Menlo"/>
              </a:rPr>
              <a:t>library(jsonlite)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1C2C4C"/>
                </a:solidFill>
                <a:latin typeface="Menlo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1C2C4C"/>
                </a:solidFill>
                <a:latin typeface="Menlo"/>
              </a:rPr>
              <a:t>url &lt;- "https://generativelanguage.googleapis.com/v1beta/models/gemini-2.0-flash:generateContent"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1C2C4C"/>
                </a:solidFill>
                <a:latin typeface="Menlo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i="1">
                <a:solidFill>
                  <a:srgbClr val="708090"/>
                </a:solidFill>
                <a:latin typeface="Menlo"/>
              </a:rPr>
              <a:t># Cuerpo de la petición (se convierte a JSON)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1C2C4C"/>
                </a:solidFill>
                <a:latin typeface="Menlo"/>
              </a:rPr>
              <a:t>cuerpo &lt;- list(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1C2C4C"/>
                </a:solidFill>
                <a:latin typeface="Menlo"/>
              </a:rPr>
              <a:t>  contents = list(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1C2C4C"/>
                </a:solidFill>
                <a:latin typeface="Menlo"/>
              </a:rPr>
              <a:t>    list(parts = list(list(text = "Hola, ¿qué es una API?")))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1C2C4C"/>
                </a:solidFill>
                <a:latin typeface="Menlo"/>
              </a:rPr>
              <a:t>  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1C2C4C"/>
                </a:solidFill>
                <a:latin typeface="Menlo"/>
              </a:rPr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1C2C4C"/>
                </a:solidFill>
                <a:latin typeface="Menlo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1C2C4C"/>
                </a:solidFill>
                <a:latin typeface="Menlo"/>
              </a:rPr>
              <a:t>respuesta &lt;- POST(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1C2C4C"/>
                </a:solidFill>
                <a:latin typeface="Menlo"/>
              </a:rPr>
              <a:t>  url   = paste0(url, "?key=", Sys.getenv("GEMINI_API_KEY")),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1C2C4C"/>
                </a:solidFill>
                <a:latin typeface="Menlo"/>
              </a:rPr>
              <a:t>  body  = toJSON(cuerpo, auto_unbox = TRUE),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1C2C4C"/>
                </a:solidFill>
                <a:latin typeface="Menlo"/>
              </a:rPr>
              <a:t>  content_type_json()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1C2C4C"/>
                </a:solidFill>
                <a:latin typeface="Menlo"/>
              </a:rPr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1C2C4C"/>
                </a:solidFill>
                <a:latin typeface="Menlo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1C2C4C"/>
                </a:solidFill>
                <a:latin typeface="Menlo"/>
              </a:rPr>
              <a:t>fromJSON(content(respuesta, "text"), flatten = TRUE)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955279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 u="none">
                <a:solidFill>
                  <a:srgbClr val="C81F2D"/>
                </a:solidFill>
                <a:latin typeface="Helvetica Neue"/>
              </a:rPr>
              <a:t>Funciona, pero es frágil. Preferimos un </a:t>
            </a:r>
            <a:r>
              <a:rPr sz="2000" b="1" i="0" u="sng">
                <a:solidFill>
                  <a:srgbClr val="C81F2D"/>
                </a:solidFill>
                <a:latin typeface="Helvetica Neue"/>
              </a:rPr>
              <a:t>cliente</a:t>
            </a:r>
            <a:r>
              <a:rPr sz="2000" b="1" i="0" u="none">
                <a:solidFill>
                  <a:srgbClr val="C81F2D"/>
                </a:solidFill>
                <a:latin typeface="Helvetica Neue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3328416" cy="7772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ctr"/>
            <a:r>
              <a:rPr sz="2600" b="1">
                <a:solidFill>
                  <a:srgbClr val="FFFFFF"/>
                </a:solidFill>
                <a:latin typeface="Helvetica Neue"/>
              </a:rPr>
              <a:t>APIs de LLMs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73736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 i="0" u="none">
                <a:solidFill>
                  <a:srgbClr val="1A1A1A"/>
                </a:solidFill>
                <a:latin typeface="Helvetica Neue"/>
              </a:rPr>
              <a:t>Las APIs de LLMs tienen particularidades: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97280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 indent="-342900" marL="457200">
              <a:spcAft>
                <a:spcPts val="1400"/>
              </a:spcAft>
              <a:buChar char="•"/>
              <a:buSzPct val="100000"/>
            </a:pPr>
            <a:r>
              <a:rPr sz="2300" b="0" i="0" u="none">
                <a:solidFill>
                  <a:srgbClr val="1A1A1A"/>
                </a:solidFill>
                <a:latin typeface="Helvetica Neue"/>
              </a:rPr>
              <a:t>Son </a:t>
            </a:r>
            <a:r>
              <a:rPr sz="2300" b="1" i="0" u="none">
                <a:solidFill>
                  <a:srgbClr val="1A1A1A"/>
                </a:solidFill>
                <a:latin typeface="Helvetica Neue"/>
              </a:rPr>
              <a:t>POST </a:t>
            </a:r>
            <a:r>
              <a:rPr sz="2300" b="0" i="0" u="none">
                <a:solidFill>
                  <a:srgbClr val="1A1A1A"/>
                </a:solidFill>
                <a:latin typeface="Helvetica Neue"/>
              </a:rPr>
              <a:t>con un body estructurado (mensajes con roles).</a:t>
            </a:r>
          </a:p>
          <a:p>
            <a:pPr algn="l" indent="-342900" marL="457200">
              <a:spcAft>
                <a:spcPts val="1400"/>
              </a:spcAft>
              <a:buChar char="•"/>
              <a:buSzPct val="100000"/>
            </a:pPr>
            <a:r>
              <a:rPr sz="2300" b="0" i="0" u="none">
                <a:solidFill>
                  <a:srgbClr val="1A1A1A"/>
                </a:solidFill>
                <a:latin typeface="Helvetica Neue"/>
              </a:rPr>
              <a:t>Aceptan un </a:t>
            </a:r>
            <a:r>
              <a:rPr sz="2300" b="0" i="0" u="sng">
                <a:solidFill>
                  <a:srgbClr val="1A1A1A"/>
                </a:solidFill>
                <a:latin typeface="Helvetica Neue"/>
              </a:rPr>
              <a:t>system prompt</a:t>
            </a:r>
            <a:r>
              <a:rPr sz="2300" b="0" i="0" u="none">
                <a:solidFill>
                  <a:srgbClr val="1A1A1A"/>
                </a:solidFill>
                <a:latin typeface="Helvetica Neue"/>
              </a:rPr>
              <a:t> para darle personalidad o instrucciones.</a:t>
            </a:r>
          </a:p>
          <a:p>
            <a:pPr algn="l" indent="-342900" marL="457200">
              <a:spcAft>
                <a:spcPts val="1400"/>
              </a:spcAft>
              <a:buChar char="•"/>
              <a:buSzPct val="100000"/>
            </a:pPr>
            <a:r>
              <a:rPr sz="2300" b="0" i="0" u="none">
                <a:solidFill>
                  <a:srgbClr val="1A1A1A"/>
                </a:solidFill>
                <a:latin typeface="Helvetica Neue"/>
              </a:rPr>
              <a:t>Devuelven texto </a:t>
            </a:r>
            <a:r>
              <a:rPr sz="2300" b="1" i="0" u="none">
                <a:solidFill>
                  <a:srgbClr val="1A1A1A"/>
                </a:solidFill>
                <a:latin typeface="Helvetica Neue"/>
              </a:rPr>
              <a:t>generativo</a:t>
            </a:r>
            <a:r>
              <a:rPr sz="2300" b="0" i="0" u="none">
                <a:solidFill>
                  <a:srgbClr val="1A1A1A"/>
                </a:solidFill>
                <a:latin typeface="Helvetica Neue"/>
              </a:rPr>
              <a:t> (no datos tabulares).</a:t>
            </a:r>
          </a:p>
          <a:p>
            <a:pPr algn="l" indent="-342900" marL="457200">
              <a:spcAft>
                <a:spcPts val="1400"/>
              </a:spcAft>
              <a:buChar char="•"/>
              <a:buSzPct val="100000"/>
            </a:pPr>
            <a:r>
              <a:rPr sz="2300" b="0" i="0" u="none">
                <a:solidFill>
                  <a:srgbClr val="1A1A1A"/>
                </a:solidFill>
                <a:latin typeface="Helvetica Neue"/>
              </a:rPr>
              <a:t>Cuestan dinero por </a:t>
            </a:r>
            <a:r>
              <a:rPr sz="2300" b="0" i="0" u="sng">
                <a:solidFill>
                  <a:srgbClr val="1A1A1A"/>
                </a:solidFill>
                <a:latin typeface="Helvetica Neue"/>
              </a:rPr>
              <a:t>tokens</a:t>
            </a:r>
            <a:r>
              <a:rPr sz="2300" b="0" i="0" u="none">
                <a:solidFill>
                  <a:srgbClr val="1A1A1A"/>
                </a:solidFill>
                <a:latin typeface="Helvetica Neue"/>
              </a:rPr>
              <a:t> de entrada y salida.</a:t>
            </a:r>
          </a:p>
          <a:p>
            <a:pPr algn="l" indent="-342900" marL="457200">
              <a:spcAft>
                <a:spcPts val="1400"/>
              </a:spcAft>
              <a:buChar char="•"/>
              <a:buSzPct val="100000"/>
            </a:pPr>
            <a:r>
              <a:rPr sz="2300" b="0" i="0" u="none">
                <a:solidFill>
                  <a:srgbClr val="1A1A1A"/>
                </a:solidFill>
                <a:latin typeface="Helvetica Neue"/>
              </a:rPr>
              <a:t>Tienen rate limits estrictos (OpenAI: RPM, TPM).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i="0" u="none">
                <a:solidFill>
                  <a:srgbClr val="1A1A1A"/>
                </a:solidFill>
                <a:latin typeface="Helvetica Neue"/>
              </a:rPr>
              <a:t>Por eso existe </a:t>
            </a:r>
            <a:r>
              <a:rPr sz="2200" b="1" i="0" u="none">
                <a:solidFill>
                  <a:srgbClr val="1F3864"/>
                </a:solidFill>
                <a:latin typeface="Menlo"/>
              </a:rPr>
              <a:t>{ellmer}</a:t>
            </a:r>
            <a:r>
              <a:rPr sz="2200" b="0" i="0" u="none">
                <a:solidFill>
                  <a:srgbClr val="1A1A1A"/>
                </a:solidFill>
                <a:latin typeface="Helvetica Neue"/>
              </a:rPr>
              <a:t>: para no reescribir todo esto a mano.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5943600" cy="7772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ctr"/>
            <a:r>
              <a:rPr sz="2600" b="1">
                <a:solidFill>
                  <a:srgbClr val="FFFFFF"/>
                </a:solidFill>
                <a:latin typeface="Helvetica Neue"/>
              </a:rPr>
              <a:t>ellmer: cliente unificado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737360"/>
            <a:ext cx="1097280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 u="none">
                <a:solidFill>
                  <a:srgbClr val="1F3864"/>
                </a:solidFill>
                <a:latin typeface="Menlo"/>
              </a:rPr>
              <a:t>{ellmer}</a:t>
            </a:r>
            <a:r>
              <a:rPr sz="2400" b="0" i="0" u="none">
                <a:solidFill>
                  <a:srgbClr val="1A1A1A"/>
                </a:solidFill>
                <a:latin typeface="Helvetica Neue"/>
              </a:rPr>
              <a:t> es un </a:t>
            </a:r>
            <a:r>
              <a:rPr sz="2400" b="1" i="0" u="none">
                <a:solidFill>
                  <a:srgbClr val="1A1A1A"/>
                </a:solidFill>
                <a:latin typeface="Helvetica Neue"/>
              </a:rPr>
              <a:t>cliente unificado para LLMs</a:t>
            </a:r>
            <a:r>
              <a:rPr sz="2400" b="0" i="0" u="none">
                <a:solidFill>
                  <a:srgbClr val="1A1A1A"/>
                </a:solidFill>
                <a:latin typeface="Helvetica Neue"/>
              </a:rPr>
              <a:t> hecho por Posit.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26080"/>
            <a:ext cx="10972800" cy="3657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 indent="-342900" marL="457200">
              <a:spcAft>
                <a:spcPts val="1200"/>
              </a:spcAft>
              <a:buChar char="•"/>
              <a:buSzPct val="100000"/>
            </a:pPr>
            <a:r>
              <a:rPr sz="2300" b="0" i="0" u="none">
                <a:solidFill>
                  <a:srgbClr val="1A1A1A"/>
                </a:solidFill>
                <a:latin typeface="Helvetica Neue"/>
              </a:rPr>
              <a:t>Mismo código para </a:t>
            </a:r>
            <a:r>
              <a:rPr sz="2300" b="0" i="0" u="sng">
                <a:solidFill>
                  <a:srgbClr val="1A1A1A"/>
                </a:solidFill>
                <a:latin typeface="Helvetica Neue"/>
              </a:rPr>
              <a:t>Claude, OpenAI, Gemini, Ollama</a:t>
            </a:r>
            <a:r>
              <a:rPr sz="2300" b="0" i="0" u="none">
                <a:solidFill>
                  <a:srgbClr val="1A1A1A"/>
                </a:solidFill>
                <a:latin typeface="Helvetica Neue"/>
              </a:rPr>
              <a:t>.</a:t>
            </a:r>
          </a:p>
          <a:p>
            <a:pPr algn="l" indent="-342900" marL="457200">
              <a:spcAft>
                <a:spcPts val="1200"/>
              </a:spcAft>
              <a:buChar char="•"/>
              <a:buSzPct val="100000"/>
            </a:pPr>
            <a:r>
              <a:rPr sz="2300" b="0" i="0" u="none">
                <a:solidFill>
                  <a:srgbClr val="1A1A1A"/>
                </a:solidFill>
                <a:latin typeface="Helvetica Neue"/>
              </a:rPr>
              <a:t>Maneja autenticación, retry, streaming, tool use.</a:t>
            </a:r>
          </a:p>
          <a:p>
            <a:pPr algn="l" indent="-342900" marL="457200">
              <a:spcAft>
                <a:spcPts val="1200"/>
              </a:spcAft>
              <a:buChar char="•"/>
              <a:buSzPct val="100000"/>
            </a:pPr>
            <a:r>
              <a:rPr sz="2300" b="0" i="0" u="none">
                <a:solidFill>
                  <a:srgbClr val="1A1A1A"/>
                </a:solidFill>
                <a:latin typeface="Helvetica Neue"/>
              </a:rPr>
              <a:t>Lee las llaves de </a:t>
            </a:r>
            <a:r>
              <a:rPr sz="2300" b="0" i="0" u="none">
                <a:solidFill>
                  <a:srgbClr val="1F3864"/>
                </a:solidFill>
                <a:latin typeface="Menlo"/>
              </a:rPr>
              <a:t>.Renviron</a:t>
            </a:r>
            <a:r>
              <a:rPr sz="2300" b="0" i="0" u="none">
                <a:solidFill>
                  <a:srgbClr val="1A1A1A"/>
                </a:solidFill>
                <a:latin typeface="Helvetica Neue"/>
              </a:rPr>
              <a:t> automáticamente.</a:t>
            </a:r>
          </a:p>
          <a:p>
            <a:pPr algn="l" indent="-342900" marL="457200">
              <a:spcAft>
                <a:spcPts val="1200"/>
              </a:spcAft>
              <a:buChar char="•"/>
              <a:buSzPct val="100000"/>
            </a:pPr>
            <a:r>
              <a:rPr sz="2300" b="0" i="0" u="none">
                <a:solidFill>
                  <a:srgbClr val="1A1A1A"/>
                </a:solidFill>
                <a:latin typeface="Helvetica Neue"/>
              </a:rPr>
              <a:t>Soporta </a:t>
            </a:r>
            <a:r>
              <a:rPr sz="2300" b="1" i="0" u="none">
                <a:solidFill>
                  <a:srgbClr val="1A1A1A"/>
                </a:solidFill>
                <a:latin typeface="Helvetica Neue"/>
              </a:rPr>
              <a:t>salidas estructuradas</a:t>
            </a:r>
            <a:r>
              <a:rPr sz="2300" b="0" i="0" u="none">
                <a:solidFill>
                  <a:srgbClr val="1A1A1A"/>
                </a:solidFill>
                <a:latin typeface="Helvetica Neue"/>
              </a:rPr>
              <a:t> (JSON validado).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583680"/>
            <a:ext cx="10881360" cy="1280160"/>
          </a:xfrm>
          <a:prstGeom prst="rect">
            <a:avLst/>
          </a:prstGeom>
          <a:solidFill>
            <a:srgbClr val="F4F6FA"/>
          </a:solidFill>
          <a:ln w="9525">
            <a:solidFill>
              <a:srgbClr val="D0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6720840"/>
            <a:ext cx="1051560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C2C4C"/>
                </a:solidFill>
                <a:latin typeface="Menlo"/>
              </a:rPr>
              <a:t>install.packages("ellmer")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C2C4C"/>
                </a:solidFill>
                <a:latin typeface="Menlo"/>
              </a:rPr>
              <a:t>library(ellmer)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4937760" cy="7772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ctr"/>
            <a:r>
              <a:rPr sz="2600" b="1">
                <a:solidFill>
                  <a:srgbClr val="FFFFFF"/>
                </a:solidFill>
                <a:latin typeface="Helvetica Neue"/>
              </a:rPr>
              <a:t>chat_google_gemini()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73736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 i="0" u="none">
                <a:solidFill>
                  <a:srgbClr val="1A1A1A"/>
                </a:solidFill>
                <a:latin typeface="Helvetica Neue"/>
              </a:rPr>
              <a:t>Crear un chat con Gemini es una sola llamada: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651760"/>
            <a:ext cx="10881360" cy="4114800"/>
          </a:xfrm>
          <a:prstGeom prst="rect">
            <a:avLst/>
          </a:prstGeom>
          <a:solidFill>
            <a:srgbClr val="F4F6FA"/>
          </a:solidFill>
          <a:ln w="9525">
            <a:solidFill>
              <a:srgbClr val="D0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2788920"/>
            <a:ext cx="10515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1C2C4C"/>
                </a:solidFill>
                <a:latin typeface="Menlo"/>
              </a:rPr>
              <a:t>library(ellmer)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1C2C4C"/>
                </a:solidFill>
                <a:latin typeface="Menlo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i="1">
                <a:solidFill>
                  <a:srgbClr val="708090"/>
                </a:solidFill>
                <a:latin typeface="Menlo"/>
              </a:rPr>
              <a:t># Asume GOOGLE_API_KEY en .Renviron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1C2C4C"/>
                </a:solidFill>
                <a:latin typeface="Menlo"/>
              </a:rPr>
              <a:t>chat &lt;- chat_google_gemini(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1C2C4C"/>
                </a:solidFill>
                <a:latin typeface="Menlo"/>
              </a:rPr>
              <a:t>  model = "gemini-2.0-flash"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1C2C4C"/>
                </a:solidFill>
                <a:latin typeface="Menlo"/>
              </a:rPr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1C2C4C"/>
                </a:solidFill>
                <a:latin typeface="Menlo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i="1">
                <a:solidFill>
                  <a:srgbClr val="708090"/>
                </a:solidFill>
                <a:latin typeface="Menlo"/>
              </a:rPr>
              <a:t># Mandar un mensaje y obtener la respuesta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1C2C4C"/>
                </a:solidFill>
                <a:latin typeface="Menlo"/>
              </a:rPr>
              <a:t>respuesta &lt;- chat$chat("Explícame qué es una API en una oración.")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1C2C4C"/>
                </a:solidFill>
                <a:latin typeface="Menlo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1C2C4C"/>
                </a:solidFill>
                <a:latin typeface="Menlo"/>
              </a:rPr>
              <a:t>respuesta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04088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 i="0" u="none">
                <a:solidFill>
                  <a:srgbClr val="1A1A1A"/>
                </a:solidFill>
                <a:latin typeface="Helvetica Neue"/>
              </a:rPr>
              <a:t>El objeto </a:t>
            </a:r>
            <a:r>
              <a:rPr sz="2200" b="0" i="0" u="none">
                <a:solidFill>
                  <a:srgbClr val="1F3864"/>
                </a:solidFill>
                <a:latin typeface="Menlo"/>
              </a:rPr>
              <a:t>chat</a:t>
            </a:r>
            <a:r>
              <a:rPr sz="2200" b="0" i="0" u="none">
                <a:solidFill>
                  <a:srgbClr val="1A1A1A"/>
                </a:solidFill>
                <a:latin typeface="Helvetica Neue"/>
              </a:rPr>
              <a:t> </a:t>
            </a:r>
            <a:r>
              <a:rPr sz="2200" b="0" i="0" u="sng">
                <a:solidFill>
                  <a:srgbClr val="1A1A1A"/>
                </a:solidFill>
                <a:latin typeface="Helvetica Neue"/>
              </a:rPr>
              <a:t>recuerda</a:t>
            </a:r>
            <a:r>
              <a:rPr sz="2200" b="0" i="0" u="none">
                <a:solidFill>
                  <a:srgbClr val="1A1A1A"/>
                </a:solidFill>
                <a:latin typeface="Helvetica Neue"/>
              </a:rPr>
              <a:t> el historial por defecto.</a:t>
            </a:r>
          </a:p>
          <a:p>
            <a:pPr algn="l">
              <a:spcAft>
                <a:spcPts val="600"/>
              </a:spcAft>
            </a:pPr>
            <a:r>
              <a:rPr sz="1700" b="0" i="1" u="none">
                <a:solidFill>
                  <a:srgbClr val="555555"/>
                </a:solidFill>
                <a:latin typeface="Helvetica Neue"/>
              </a:rPr>
              <a:t>Verifica el nombre exacto en </a:t>
            </a:r>
            <a:r>
              <a:rPr sz="1700" b="0" i="0" u="none">
                <a:solidFill>
                  <a:srgbClr val="1F3864"/>
                </a:solidFill>
                <a:latin typeface="Menlo"/>
              </a:rPr>
              <a:t>?ellmer</a:t>
            </a:r>
            <a:r>
              <a:rPr sz="1700" b="0" i="1" u="none">
                <a:solidFill>
                  <a:srgbClr val="555555"/>
                </a:solidFill>
                <a:latin typeface="Helvetica Neue"/>
              </a:rPr>
              <a:t> — la API evoluciona rápido.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3730752" cy="7772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ctr"/>
            <a:r>
              <a:rPr sz="2600" b="1">
                <a:solidFill>
                  <a:srgbClr val="FFFFFF"/>
                </a:solidFill>
                <a:latin typeface="Helvetica Neue"/>
              </a:rPr>
              <a:t>System prompts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73736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 i="0" u="none">
                <a:solidFill>
                  <a:srgbClr val="1A1A1A"/>
                </a:solidFill>
                <a:latin typeface="Helvetica Neue"/>
              </a:rPr>
              <a:t>Un </a:t>
            </a:r>
            <a:r>
              <a:rPr sz="2400" b="1" i="0" u="none">
                <a:solidFill>
                  <a:srgbClr val="1A1A1A"/>
                </a:solidFill>
                <a:latin typeface="Helvetica Neue"/>
              </a:rPr>
              <a:t>system prompt</a:t>
            </a:r>
            <a:r>
              <a:rPr sz="2400" b="0" i="0" u="none">
                <a:solidFill>
                  <a:srgbClr val="1A1A1A"/>
                </a:solidFill>
                <a:latin typeface="Helvetica Neue"/>
              </a:rPr>
              <a:t> define el </a:t>
            </a:r>
            <a:r>
              <a:rPr sz="2400" b="0" i="0" u="sng">
                <a:solidFill>
                  <a:srgbClr val="1A1A1A"/>
                </a:solidFill>
                <a:latin typeface="Helvetica Neue"/>
              </a:rPr>
              <a:t>rol</a:t>
            </a:r>
            <a:r>
              <a:rPr sz="2400" b="0" i="0" u="none">
                <a:solidFill>
                  <a:srgbClr val="1A1A1A"/>
                </a:solidFill>
                <a:latin typeface="Helvetica Neue"/>
              </a:rPr>
              <a:t> y las reglas del modelo antes de empezar.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743200"/>
            <a:ext cx="10881360" cy="4846320"/>
          </a:xfrm>
          <a:prstGeom prst="rect">
            <a:avLst/>
          </a:prstGeom>
          <a:solidFill>
            <a:srgbClr val="F4F6FA"/>
          </a:solidFill>
          <a:ln w="9525">
            <a:solidFill>
              <a:srgbClr val="D0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2880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1C2C4C"/>
                </a:solidFill>
                <a:latin typeface="Menlo"/>
              </a:rPr>
              <a:t>chat &lt;- chat_google_gemini(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1C2C4C"/>
                </a:solidFill>
                <a:latin typeface="Menlo"/>
              </a:rPr>
              <a:t>  system_prompt = 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1C2C4C"/>
                </a:solidFill>
                <a:latin typeface="Menlo"/>
              </a:rPr>
              <a:t>    Eres un moderador experto en redes sociales.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1C2C4C"/>
                </a:solidFill>
                <a:latin typeface="Menlo"/>
              </a:rPr>
              <a:t>    Clasificas mensajes en español como discurso de odio o no.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1C2C4C"/>
                </a:solidFill>
                <a:latin typeface="Menlo"/>
              </a:rPr>
              <a:t>    Responde siempre en formato JSON con los campos: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1C2C4C"/>
                </a:solidFill>
                <a:latin typeface="Menlo"/>
              </a:rPr>
              <a:t>      - es_discurso_odio (TRUE/FALSE)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1C2C4C"/>
                </a:solidFill>
                <a:latin typeface="Menlo"/>
              </a:rPr>
              <a:t>      - razon (string corto)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1C2C4C"/>
                </a:solidFill>
                <a:latin typeface="Menlo"/>
              </a:rPr>
              <a:t>  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1C2C4C"/>
                </a:solidFill>
                <a:latin typeface="Menlo"/>
              </a:rPr>
              <a:t>  model = "gemini-2.0-flash"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1C2C4C"/>
                </a:solidFill>
                <a:latin typeface="Menlo"/>
              </a:rPr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1C2C4C"/>
                </a:solidFill>
                <a:latin typeface="Menlo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1C2C4C"/>
                </a:solidFill>
                <a:latin typeface="Menlo"/>
              </a:rPr>
              <a:t>chat$chat("Todos los aficionados del otro equipo son unos idiotas.")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86384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i="0" u="none">
                <a:solidFill>
                  <a:srgbClr val="1A1A1A"/>
                </a:solidFill>
                <a:latin typeface="Helvetica Neue"/>
              </a:rPr>
              <a:t>Buen </a:t>
            </a:r>
            <a:r>
              <a:rPr sz="2200" b="0" i="0" u="sng">
                <a:solidFill>
                  <a:srgbClr val="1A1A1A"/>
                </a:solidFill>
                <a:latin typeface="Helvetica Neue"/>
              </a:rPr>
              <a:t>system prompt</a:t>
            </a:r>
            <a:r>
              <a:rPr sz="2200" b="0" i="0" u="none">
                <a:solidFill>
                  <a:srgbClr val="1A1A1A"/>
                </a:solidFill>
                <a:latin typeface="Helvetica Neue"/>
              </a:rPr>
              <a:t> = respuestas consistentes y útiles.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5138928" cy="7772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ctr"/>
            <a:r>
              <a:rPr sz="2600" b="1">
                <a:solidFill>
                  <a:srgbClr val="FFFFFF"/>
                </a:solidFill>
                <a:latin typeface="Helvetica Neue"/>
              </a:rPr>
              <a:t>Salidas estructuradas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73736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i="0" u="none">
                <a:solidFill>
                  <a:srgbClr val="1A1A1A"/>
                </a:solidFill>
                <a:latin typeface="Helvetica Neue"/>
              </a:rPr>
              <a:t>En vez de pedir JSON en el prompt, podemos </a:t>
            </a:r>
            <a:r>
              <a:rPr sz="2200" b="0" i="0" u="sng">
                <a:solidFill>
                  <a:srgbClr val="1A1A1A"/>
                </a:solidFill>
                <a:latin typeface="Helvetica Neue"/>
              </a:rPr>
              <a:t>garantizarlo</a:t>
            </a:r>
            <a:r>
              <a:rPr sz="2200" b="0" i="0" u="none">
                <a:solidFill>
                  <a:srgbClr val="1A1A1A"/>
                </a:solidFill>
                <a:latin typeface="Helvetica Neue"/>
              </a:rPr>
              <a:t> con tipos: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560320"/>
            <a:ext cx="10881360" cy="5943600"/>
          </a:xfrm>
          <a:prstGeom prst="rect">
            <a:avLst/>
          </a:prstGeom>
          <a:solidFill>
            <a:srgbClr val="F4F6FA"/>
          </a:solidFill>
          <a:ln w="9525">
            <a:solidFill>
              <a:srgbClr val="D0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2697479"/>
            <a:ext cx="105156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1C2C4C"/>
                </a:solidFill>
                <a:latin typeface="Menlo"/>
              </a:rPr>
              <a:t>library(ellmer)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1C2C4C"/>
                </a:solidFill>
                <a:latin typeface="Menlo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i="1">
                <a:solidFill>
                  <a:srgbClr val="708090"/>
                </a:solidFill>
                <a:latin typeface="Menlo"/>
              </a:rPr>
              <a:t># Definir el esquema de salida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1C2C4C"/>
                </a:solidFill>
                <a:latin typeface="Menlo"/>
              </a:rPr>
              <a:t>tipo_odio &lt;- type_object(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1C2C4C"/>
                </a:solidFill>
                <a:latin typeface="Menlo"/>
              </a:rPr>
              <a:t>  es_discurso_odio = type_boolean(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1C2C4C"/>
                </a:solidFill>
                <a:latin typeface="Menlo"/>
              </a:rPr>
              <a:t>    "TRUE si el mensaje contiene discurso de odio."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1C2C4C"/>
                </a:solidFill>
                <a:latin typeface="Menlo"/>
              </a:rPr>
              <a:t>  ),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1C2C4C"/>
                </a:solidFill>
                <a:latin typeface="Menlo"/>
              </a:rPr>
              <a:t>  razon = type_string(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1C2C4C"/>
                </a:solidFill>
                <a:latin typeface="Menlo"/>
              </a:rPr>
              <a:t>    "Explicación breve en español."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1C2C4C"/>
                </a:solidFill>
                <a:latin typeface="Menlo"/>
              </a:rPr>
              <a:t>  ),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1C2C4C"/>
                </a:solidFill>
                <a:latin typeface="Menlo"/>
              </a:rPr>
              <a:t>  confianza = type_number(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1C2C4C"/>
                </a:solidFill>
                <a:latin typeface="Menlo"/>
              </a:rPr>
              <a:t>    "Confianza del 0 al 1."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1C2C4C"/>
                </a:solidFill>
                <a:latin typeface="Menlo"/>
              </a:rPr>
              <a:t>  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1C2C4C"/>
                </a:solidFill>
                <a:latin typeface="Menlo"/>
              </a:rPr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1C2C4C"/>
                </a:solidFill>
                <a:latin typeface="Menlo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i="1">
                <a:solidFill>
                  <a:srgbClr val="708090"/>
                </a:solidFill>
                <a:latin typeface="Menlo"/>
              </a:rPr>
              <a:t># Extraer datos estructurados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1C2C4C"/>
                </a:solidFill>
                <a:latin typeface="Menlo"/>
              </a:rPr>
              <a:t>resultado &lt;- chat$chat_structured(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1C2C4C"/>
                </a:solidFill>
                <a:latin typeface="Menlo"/>
              </a:rPr>
              <a:t>  "Todos los del otro equipo son unos idiotas.",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1C2C4C"/>
                </a:solidFill>
                <a:latin typeface="Menlo"/>
              </a:rPr>
              <a:t>  type = tipo_odio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1C2C4C"/>
                </a:solidFill>
                <a:latin typeface="Menlo"/>
              </a:rPr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1C2C4C"/>
                </a:solidFill>
                <a:latin typeface="Menlo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1C2C4C"/>
                </a:solidFill>
                <a:latin typeface="Menlo"/>
              </a:rPr>
              <a:t>resultado$es_discurso_odio  # TRUE / FALSE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1C2C4C"/>
                </a:solidFill>
                <a:latin typeface="Menlo"/>
              </a:rPr>
              <a:t>resultado$razon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4937760" cy="7772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ctr"/>
            <a:r>
              <a:rPr sz="2600" b="1">
                <a:solidFill>
                  <a:srgbClr val="FFFFFF"/>
                </a:solidFill>
                <a:latin typeface="Helvetica Neue"/>
              </a:rPr>
              <a:t>Ollama: LLMs locales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737360"/>
            <a:ext cx="109728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 u="none">
                <a:solidFill>
                  <a:srgbClr val="1A1A1A"/>
                </a:solidFill>
                <a:latin typeface="Helvetica Neue"/>
              </a:rPr>
              <a:t>Ollama</a:t>
            </a:r>
            <a:r>
              <a:rPr sz="2400" b="0" i="0" u="none">
                <a:solidFill>
                  <a:srgbClr val="1A1A1A"/>
                </a:solidFill>
                <a:latin typeface="Helvetica Neue"/>
              </a:rPr>
              <a:t> es un servidor que corre LLMs en </a:t>
            </a:r>
            <a:r>
              <a:rPr sz="2400" b="0" i="0" u="sng">
                <a:solidFill>
                  <a:srgbClr val="1A1A1A"/>
                </a:solidFill>
                <a:latin typeface="Helvetica Neue"/>
              </a:rPr>
              <a:t>tu propia máquina</a:t>
            </a:r>
            <a:r>
              <a:rPr sz="2400" b="0" i="0" u="none">
                <a:solidFill>
                  <a:srgbClr val="1A1A1A"/>
                </a:solidFill>
                <a:latin typeface="Helvetica Neue"/>
              </a:rPr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743200"/>
            <a:ext cx="5394960" cy="39319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880360"/>
            <a:ext cx="5029200" cy="374903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2600" b="1" i="0" u="none">
                <a:solidFill>
                  <a:srgbClr val="FFFFFF"/>
                </a:solidFill>
                <a:latin typeface="Helvetica Neue"/>
              </a:rPr>
              <a:t>Ventajas</a:t>
            </a:r>
          </a:p>
          <a:p>
            <a:pPr algn="l" indent="-342900" marL="457200">
              <a:spcAft>
                <a:spcPts val="800"/>
              </a:spcAft>
              <a:buChar char="•"/>
              <a:buSzPct val="100000"/>
            </a:pPr>
            <a:r>
              <a:rPr sz="1900" b="1" i="0" u="none">
                <a:solidFill>
                  <a:srgbClr val="FFFFFF"/>
                </a:solidFill>
                <a:latin typeface="Helvetica Neue"/>
              </a:rPr>
              <a:t>Gratis</a:t>
            </a:r>
            <a:r>
              <a:rPr sz="1900" b="0" i="0" u="none">
                <a:solidFill>
                  <a:srgbClr val="FFFFFF"/>
                </a:solidFill>
                <a:latin typeface="Helvetica Neue"/>
              </a:rPr>
              <a:t> (no hay costo por token)</a:t>
            </a:r>
          </a:p>
          <a:p>
            <a:pPr algn="l" indent="-342900" marL="457200">
              <a:spcAft>
                <a:spcPts val="800"/>
              </a:spcAft>
              <a:buChar char="•"/>
              <a:buSzPct val="100000"/>
            </a:pPr>
            <a:r>
              <a:rPr sz="1900" b="1" i="0" u="none">
                <a:solidFill>
                  <a:srgbClr val="FFFFFF"/>
                </a:solidFill>
                <a:latin typeface="Helvetica Neue"/>
              </a:rPr>
              <a:t>Privado</a:t>
            </a:r>
            <a:r>
              <a:rPr sz="1900" b="0" i="0" u="none">
                <a:solidFill>
                  <a:srgbClr val="FFFFFF"/>
                </a:solidFill>
                <a:latin typeface="Helvetica Neue"/>
              </a:rPr>
              <a:t> (los datos no salen)</a:t>
            </a:r>
          </a:p>
          <a:p>
            <a:pPr algn="l" indent="-342900" marL="457200">
              <a:spcAft>
                <a:spcPts val="800"/>
              </a:spcAft>
              <a:buChar char="•"/>
              <a:buSzPct val="100000"/>
            </a:pPr>
            <a:r>
              <a:rPr sz="1900" b="0" i="0" u="none">
                <a:solidFill>
                  <a:srgbClr val="FFFFFF"/>
                </a:solidFill>
                <a:latin typeface="Helvetica Neue"/>
              </a:rPr>
              <a:t>Sin rate limits</a:t>
            </a:r>
          </a:p>
          <a:p>
            <a:pPr algn="l" indent="-342900" marL="457200">
              <a:spcAft>
                <a:spcPts val="800"/>
              </a:spcAft>
              <a:buChar char="•"/>
              <a:buSzPct val="100000"/>
            </a:pPr>
            <a:r>
              <a:rPr sz="1900" b="0" i="0" u="none">
                <a:solidFill>
                  <a:srgbClr val="FFFFFF"/>
                </a:solidFill>
                <a:latin typeface="Helvetica Neue"/>
              </a:rPr>
              <a:t>Funciona sin internet</a:t>
            </a:r>
          </a:p>
        </p:txBody>
      </p:sp>
      <p:sp>
        <p:nvSpPr>
          <p:cNvPr id="6" name="Rectangle 5"/>
          <p:cNvSpPr/>
          <p:nvPr/>
        </p:nvSpPr>
        <p:spPr>
          <a:xfrm>
            <a:off x="6172200" y="2743200"/>
            <a:ext cx="5394960" cy="3931920"/>
          </a:xfrm>
          <a:prstGeom prst="rect">
            <a:avLst/>
          </a:prstGeom>
          <a:solidFill>
            <a:srgbClr val="3B5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2880360"/>
            <a:ext cx="5029200" cy="374903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1000"/>
              </a:spcAft>
            </a:pPr>
            <a:r>
              <a:rPr sz="2600" b="1" i="0" u="none">
                <a:solidFill>
                  <a:srgbClr val="FFFFFF"/>
                </a:solidFill>
                <a:latin typeface="Helvetica Neue"/>
              </a:rPr>
              <a:t>Desventajas</a:t>
            </a:r>
          </a:p>
          <a:p>
            <a:pPr algn="l" indent="-342900" marL="457200">
              <a:spcAft>
                <a:spcPts val="800"/>
              </a:spcAft>
              <a:buChar char="•"/>
              <a:buSzPct val="100000"/>
            </a:pPr>
            <a:r>
              <a:rPr sz="1900" b="0" i="0" u="none">
                <a:solidFill>
                  <a:srgbClr val="FFFFFF"/>
                </a:solidFill>
                <a:latin typeface="Helvetica Neue"/>
              </a:rPr>
              <a:t>Modelos más </a:t>
            </a:r>
            <a:r>
              <a:rPr sz="1900" b="1" i="0" u="none">
                <a:solidFill>
                  <a:srgbClr val="FFFFFF"/>
                </a:solidFill>
                <a:latin typeface="Helvetica Neue"/>
              </a:rPr>
              <a:t>pequeños</a:t>
            </a:r>
          </a:p>
          <a:p>
            <a:pPr algn="l" indent="-342900" marL="457200">
              <a:spcAft>
                <a:spcPts val="800"/>
              </a:spcAft>
              <a:buChar char="•"/>
              <a:buSzPct val="100000"/>
            </a:pPr>
            <a:r>
              <a:rPr sz="1900" b="0" i="0" u="none">
                <a:solidFill>
                  <a:srgbClr val="FFFFFF"/>
                </a:solidFill>
                <a:latin typeface="Helvetica Neue"/>
              </a:rPr>
              <a:t>Usa </a:t>
            </a:r>
            <a:r>
              <a:rPr sz="1900" b="1" i="0" u="none">
                <a:solidFill>
                  <a:srgbClr val="FFFFFF"/>
                </a:solidFill>
                <a:latin typeface="Helvetica Neue"/>
              </a:rPr>
              <a:t>RAM y GPU</a:t>
            </a:r>
          </a:p>
          <a:p>
            <a:pPr algn="l" indent="-342900" marL="457200">
              <a:spcAft>
                <a:spcPts val="800"/>
              </a:spcAft>
              <a:buChar char="•"/>
              <a:buSzPct val="100000"/>
            </a:pPr>
            <a:r>
              <a:rPr sz="1900" b="0" i="0" u="none">
                <a:solidFill>
                  <a:srgbClr val="FFFFFF"/>
                </a:solidFill>
                <a:latin typeface="Helvetica Neue"/>
              </a:rPr>
              <a:t>Más lento que las APIs de nube</a:t>
            </a:r>
          </a:p>
          <a:p>
            <a:pPr algn="l" indent="-342900" marL="457200">
              <a:spcAft>
                <a:spcPts val="800"/>
              </a:spcAft>
              <a:buChar char="•"/>
              <a:buSzPct val="100000"/>
            </a:pPr>
            <a:r>
              <a:rPr sz="1900" b="0" i="0" u="none">
                <a:solidFill>
                  <a:srgbClr val="FFFFFF"/>
                </a:solidFill>
                <a:latin typeface="Helvetica Neue"/>
              </a:rPr>
              <a:t>Calidad menor que GPT-4 o Claude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7040880"/>
            <a:ext cx="10881360" cy="1463040"/>
          </a:xfrm>
          <a:prstGeom prst="rect">
            <a:avLst/>
          </a:prstGeom>
          <a:solidFill>
            <a:srgbClr val="F4F6FA"/>
          </a:solidFill>
          <a:ln w="9525">
            <a:solidFill>
              <a:srgbClr val="D0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717804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i="1">
                <a:solidFill>
                  <a:srgbClr val="708090"/>
                </a:solidFill>
                <a:latin typeface="Menlo"/>
              </a:rPr>
              <a:t># En terminal, antes de usar desde R: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1C2C4C"/>
                </a:solidFill>
                <a:latin typeface="Menlo"/>
              </a:rPr>
              <a:t>ollama pull qwen2.5:7b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1C2C4C"/>
                </a:solidFill>
                <a:latin typeface="Menlo"/>
              </a:rPr>
              <a:t>ollama pull llama3.2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3529584" cy="7772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ctr"/>
            <a:r>
              <a:rPr sz="2600" b="1">
                <a:solidFill>
                  <a:srgbClr val="FFFFFF"/>
                </a:solidFill>
                <a:latin typeface="Helvetica Neue"/>
              </a:rPr>
              <a:t>chat_ollama()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73736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i="0" u="none">
                <a:solidFill>
                  <a:srgbClr val="1A1A1A"/>
                </a:solidFill>
                <a:latin typeface="Helvetica Neue"/>
              </a:rPr>
              <a:t>El patrón es </a:t>
            </a:r>
            <a:r>
              <a:rPr sz="2200" b="0" i="0" u="sng">
                <a:solidFill>
                  <a:srgbClr val="1A1A1A"/>
                </a:solidFill>
                <a:latin typeface="Helvetica Neue"/>
              </a:rPr>
              <a:t>idéntico</a:t>
            </a:r>
            <a:r>
              <a:rPr sz="2200" b="0" i="0" u="none">
                <a:solidFill>
                  <a:srgbClr val="1A1A1A"/>
                </a:solidFill>
                <a:latin typeface="Helvetica Neue"/>
              </a:rPr>
              <a:t> al de Gemini. Solo cambia el constructor: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651760"/>
            <a:ext cx="10881360" cy="4846320"/>
          </a:xfrm>
          <a:prstGeom prst="rect">
            <a:avLst/>
          </a:prstGeom>
          <a:solidFill>
            <a:srgbClr val="F4F6FA"/>
          </a:solidFill>
          <a:ln w="9525">
            <a:solidFill>
              <a:srgbClr val="D0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2788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1C2C4C"/>
                </a:solidFill>
                <a:latin typeface="Menlo"/>
              </a:rPr>
              <a:t>library(ellmer)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1C2C4C"/>
                </a:solidFill>
                <a:latin typeface="Menlo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1C2C4C"/>
                </a:solidFill>
                <a:latin typeface="Menlo"/>
              </a:rPr>
              <a:t>chat_local &lt;- chat_ollama(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1C2C4C"/>
                </a:solidFill>
                <a:latin typeface="Menlo"/>
              </a:rPr>
              <a:t>  system_prompt = 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1C2C4C"/>
                </a:solidFill>
                <a:latin typeface="Menlo"/>
              </a:rPr>
              <a:t>    Eres un clasificador de discurso de odio.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1C2C4C"/>
                </a:solidFill>
                <a:latin typeface="Menlo"/>
              </a:rPr>
              <a:t>    Respondes solo TRUE o FALSE.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1C2C4C"/>
                </a:solidFill>
                <a:latin typeface="Menlo"/>
              </a:rPr>
              <a:t>  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1C2C4C"/>
                </a:solidFill>
                <a:latin typeface="Menlo"/>
              </a:rPr>
              <a:t>  model = "qwen2.5:7b"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1C2C4C"/>
                </a:solidFill>
                <a:latin typeface="Menlo"/>
              </a:rPr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1C2C4C"/>
                </a:solidFill>
                <a:latin typeface="Menlo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1C2C4C"/>
                </a:solidFill>
                <a:latin typeface="Menlo"/>
              </a:rPr>
              <a:t>chat_local$chat("Me encantó el partido de ayer.")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i="1">
                <a:solidFill>
                  <a:srgbClr val="708090"/>
                </a:solidFill>
                <a:latin typeface="Menlo"/>
              </a:rPr>
              <a:t># [1] "FALSE"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1C2C4C"/>
                </a:solidFill>
                <a:latin typeface="Menlo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1C2C4C"/>
                </a:solidFill>
                <a:latin typeface="Menlo"/>
              </a:rPr>
              <a:t>chat_local$chat("Ojalá se muera ese jugador.")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i="1">
                <a:solidFill>
                  <a:srgbClr val="708090"/>
                </a:solidFill>
                <a:latin typeface="Menlo"/>
              </a:rPr>
              <a:t># [1] "TRUE"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77240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0" i="0" u="none">
                <a:solidFill>
                  <a:srgbClr val="1A1A1A"/>
                </a:solidFill>
                <a:latin typeface="Helvetica Neue"/>
              </a:rPr>
              <a:t>Ollama debe estar corriendo (</a:t>
            </a:r>
            <a:r>
              <a:rPr sz="2100" b="0" i="0" u="none">
                <a:solidFill>
                  <a:srgbClr val="1F3864"/>
                </a:solidFill>
                <a:latin typeface="Menlo"/>
              </a:rPr>
              <a:t>ollama serve</a:t>
            </a:r>
            <a:r>
              <a:rPr sz="2100" b="0" i="0" u="none">
                <a:solidFill>
                  <a:srgbClr val="1A1A1A"/>
                </a:solidFill>
                <a:latin typeface="Helvetica Neue"/>
              </a:rPr>
              <a:t> o la app).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5943600" cy="7772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ctr"/>
            <a:r>
              <a:rPr sz="2600" b="1">
                <a:solidFill>
                  <a:srgbClr val="FFFFFF"/>
                </a:solidFill>
                <a:latin typeface="Helvetica Neue"/>
              </a:rPr>
              <a:t>Otros clientes API para 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73736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i="0" u="none">
                <a:solidFill>
                  <a:srgbClr val="1A1A1A"/>
                </a:solidFill>
                <a:latin typeface="Helvetica Neue"/>
              </a:rPr>
              <a:t>Para APIs no-LLM, usa el cliente dedicado cuando exista: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743200"/>
            <a:ext cx="2377440" cy="5943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816352"/>
            <a:ext cx="237744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 i="0" u="none">
                <a:solidFill>
                  <a:srgbClr val="FFFFFF"/>
                </a:solidFill>
                <a:latin typeface="Menlo"/>
              </a:rPr>
              <a:t>{tuber}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2816352"/>
            <a:ext cx="832104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 u="none">
                <a:solidFill>
                  <a:srgbClr val="1A1A1A"/>
                </a:solidFill>
                <a:latin typeface="Helvetica Neue"/>
              </a:rPr>
              <a:t>YouTube Data API: videos, canales, comentarios.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520440"/>
            <a:ext cx="2377440" cy="5943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593592"/>
            <a:ext cx="237744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 i="0" u="none">
                <a:solidFill>
                  <a:srgbClr val="FFFFFF"/>
                </a:solidFill>
                <a:latin typeface="Menlo"/>
              </a:rPr>
              <a:t>{inegiR}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3593592"/>
            <a:ext cx="832104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 u="none">
                <a:solidFill>
                  <a:srgbClr val="1A1A1A"/>
                </a:solidFill>
                <a:latin typeface="Helvetica Neue"/>
              </a:rPr>
              <a:t>INEGI: PIB, ENOE, ENIGH, indicadores del BIE.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297680"/>
            <a:ext cx="2377440" cy="5943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370832"/>
            <a:ext cx="237744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 i="0" u="none">
                <a:solidFill>
                  <a:srgbClr val="FFFFFF"/>
                </a:solidFill>
                <a:latin typeface="Menlo"/>
              </a:rPr>
              <a:t>{tidyquant}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4370832"/>
            <a:ext cx="832104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 u="none">
                <a:solidFill>
                  <a:srgbClr val="1A1A1A"/>
                </a:solidFill>
                <a:latin typeface="Helvetica Neue"/>
              </a:rPr>
              <a:t>Precios de acciones, Yahoo Finance, tipos de cambio.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5074920"/>
            <a:ext cx="2377440" cy="5943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148072"/>
            <a:ext cx="237744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 i="0" u="none">
                <a:solidFill>
                  <a:srgbClr val="FFFFFF"/>
                </a:solidFill>
                <a:latin typeface="Menlo"/>
              </a:rPr>
              <a:t>{spotifyr}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5148072"/>
            <a:ext cx="832104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 u="none">
                <a:solidFill>
                  <a:srgbClr val="1A1A1A"/>
                </a:solidFill>
                <a:latin typeface="Helvetica Neue"/>
              </a:rPr>
              <a:t>Spotify: playlists, popularidad, audio features.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852159"/>
            <a:ext cx="2377440" cy="5943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925312"/>
            <a:ext cx="237744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 i="0" u="none">
                <a:solidFill>
                  <a:srgbClr val="FFFFFF"/>
                </a:solidFill>
                <a:latin typeface="Menlo"/>
              </a:rPr>
              <a:t>{openmeteo}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5925312"/>
            <a:ext cx="832104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 u="none">
                <a:solidFill>
                  <a:srgbClr val="1A1A1A"/>
                </a:solidFill>
                <a:latin typeface="Helvetica Neue"/>
              </a:rPr>
              <a:t>Clima pronosticado e histórico (sin token).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7772400"/>
            <a:ext cx="109728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i="0" u="none">
                <a:solidFill>
                  <a:srgbClr val="1A1A1A"/>
                </a:solidFill>
                <a:latin typeface="Helvetica Neue"/>
              </a:rPr>
              <a:t>Siempre </a:t>
            </a:r>
            <a:r>
              <a:rPr sz="2200" b="1" i="0" u="sng">
                <a:solidFill>
                  <a:srgbClr val="1F3864"/>
                </a:solidFill>
                <a:latin typeface="Helvetica Neue"/>
              </a:rPr>
              <a:t>busca el cliente primero</a:t>
            </a:r>
            <a:r>
              <a:rPr sz="2200" b="0" i="0" u="none">
                <a:solidFill>
                  <a:srgbClr val="1A1A1A"/>
                </a:solidFill>
                <a:latin typeface="Helvetica Neue"/>
              </a:rPr>
              <a:t>; solo cae a </a:t>
            </a:r>
            <a:r>
              <a:rPr sz="2200" b="0" i="0" u="none">
                <a:solidFill>
                  <a:srgbClr val="1F3864"/>
                </a:solidFill>
                <a:latin typeface="Menlo"/>
              </a:rPr>
              <a:t>httr</a:t>
            </a:r>
            <a:r>
              <a:rPr sz="2200" b="0" i="0" u="none">
                <a:solidFill>
                  <a:srgbClr val="1A1A1A"/>
                </a:solidFill>
                <a:latin typeface="Helvetica Neue"/>
              </a:rPr>
              <a:t> si no existe.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6345936" cy="7772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ctr"/>
            <a:r>
              <a:rPr sz="2600" b="1">
                <a:solidFill>
                  <a:srgbClr val="FFFFFF"/>
                </a:solidFill>
                <a:latin typeface="Helvetica Neue"/>
              </a:rPr>
              <a:t>Ejemplo: tuber para YouTube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73736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i="0" u="none">
                <a:solidFill>
                  <a:srgbClr val="1A1A1A"/>
                </a:solidFill>
                <a:latin typeface="Helvetica Neue"/>
              </a:rPr>
              <a:t>Flujo típico: </a:t>
            </a:r>
            <a:r>
              <a:rPr sz="2200" b="0" i="0" u="sng">
                <a:solidFill>
                  <a:srgbClr val="1A1A1A"/>
                </a:solidFill>
                <a:latin typeface="Helvetica Neue"/>
              </a:rPr>
              <a:t>autenticación OAuth</a:t>
            </a:r>
            <a:r>
              <a:rPr sz="2200" b="0" i="0" u="none">
                <a:solidFill>
                  <a:srgbClr val="1A1A1A"/>
                </a:solidFill>
                <a:latin typeface="Helvetica Neue"/>
              </a:rPr>
              <a:t>, luego consulta.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651760"/>
            <a:ext cx="10881360" cy="5669280"/>
          </a:xfrm>
          <a:prstGeom prst="rect">
            <a:avLst/>
          </a:prstGeom>
          <a:solidFill>
            <a:srgbClr val="F4F6FA"/>
          </a:solidFill>
          <a:ln w="9525">
            <a:solidFill>
              <a:srgbClr val="D0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2788920"/>
            <a:ext cx="105156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1C2C4C"/>
                </a:solidFill>
                <a:latin typeface="Menlo"/>
              </a:rPr>
              <a:t>library(tuber)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1C2C4C"/>
                </a:solidFill>
                <a:latin typeface="Menlo"/>
              </a:rPr>
              <a:t>library(tidyverse)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1C2C4C"/>
                </a:solidFill>
                <a:latin typeface="Menlo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i="1">
                <a:solidFill>
                  <a:srgbClr val="708090"/>
                </a:solidFill>
                <a:latin typeface="Menlo"/>
              </a:rPr>
              <a:t># Autenticación (se abre el navegador la primera vez)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1C2C4C"/>
                </a:solidFill>
                <a:latin typeface="Menlo"/>
              </a:rPr>
              <a:t>yt_oauth(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1C2C4C"/>
                </a:solidFill>
                <a:latin typeface="Menlo"/>
              </a:rPr>
              <a:t>  app_id     = Sys.getenv("YT_APP_ID"),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1C2C4C"/>
                </a:solidFill>
                <a:latin typeface="Menlo"/>
              </a:rPr>
              <a:t>  app_secret = Sys.getenv("YT_APP_SECRET")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1C2C4C"/>
                </a:solidFill>
                <a:latin typeface="Menlo"/>
              </a:rPr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1C2C4C"/>
                </a:solidFill>
                <a:latin typeface="Menlo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i="1">
                <a:solidFill>
                  <a:srgbClr val="708090"/>
                </a:solidFill>
                <a:latin typeface="Menlo"/>
              </a:rPr>
              <a:t># Descargar los comentarios de un video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1C2C4C"/>
                </a:solidFill>
                <a:latin typeface="Menlo"/>
              </a:rPr>
              <a:t>comentarios &lt;- get_comment_threads(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1C2C4C"/>
                </a:solidFill>
                <a:latin typeface="Menlo"/>
              </a:rPr>
              <a:t>  filter      = c(video_id = "dQw4w9WgXcQ"),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1C2C4C"/>
                </a:solidFill>
                <a:latin typeface="Menlo"/>
              </a:rPr>
              <a:t>  max_results = 100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1C2C4C"/>
                </a:solidFill>
                <a:latin typeface="Menlo"/>
              </a:rPr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1C2C4C"/>
                </a:solidFill>
                <a:latin typeface="Menlo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1C2C4C"/>
                </a:solidFill>
                <a:latin typeface="Menlo"/>
              </a:rPr>
              <a:t>comentarios %&gt;%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1C2C4C"/>
                </a:solidFill>
                <a:latin typeface="Menlo"/>
              </a:rPr>
              <a:t>  as_tibble() %&gt;%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1C2C4C"/>
                </a:solidFill>
                <a:latin typeface="Menlo"/>
              </a:rPr>
              <a:t>  select(authorDisplayName, textOriginal, likeCount)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6748272" cy="7772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ctr"/>
            <a:r>
              <a:rPr sz="2600" b="1">
                <a:solidFill>
                  <a:srgbClr val="FFFFFF"/>
                </a:solidFill>
                <a:latin typeface="Helvetica Neue"/>
              </a:rPr>
              <a:t>Iterando APIs de forma segura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73736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i="0" u="none">
                <a:solidFill>
                  <a:srgbClr val="1A1A1A"/>
                </a:solidFill>
                <a:latin typeface="Helvetica Neue"/>
              </a:rPr>
              <a:t>Para los 151 pokémon, iteramos con </a:t>
            </a:r>
            <a:r>
              <a:rPr sz="2200" b="0" i="0" u="none">
                <a:solidFill>
                  <a:srgbClr val="1F3864"/>
                </a:solidFill>
                <a:latin typeface="Menlo"/>
              </a:rPr>
              <a:t>lapply()</a:t>
            </a:r>
            <a:r>
              <a:rPr sz="2200" b="0" i="0" u="none">
                <a:solidFill>
                  <a:srgbClr val="1A1A1A"/>
                </a:solidFill>
                <a:latin typeface="Helvetica Neue"/>
              </a:rPr>
              <a:t> y protegemos con </a:t>
            </a:r>
            <a:r>
              <a:rPr sz="2200" b="0" i="0" u="none">
                <a:solidFill>
                  <a:srgbClr val="1F3864"/>
                </a:solidFill>
                <a:latin typeface="Menlo"/>
              </a:rPr>
              <a:t>tryCatch()</a:t>
            </a:r>
            <a:r>
              <a:rPr sz="2200" b="0" i="0" u="none">
                <a:solidFill>
                  <a:srgbClr val="1A1A1A"/>
                </a:solidFill>
                <a:latin typeface="Helvetica Neue"/>
              </a:rPr>
              <a:t>: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651760"/>
            <a:ext cx="10881360" cy="5760720"/>
          </a:xfrm>
          <a:prstGeom prst="rect">
            <a:avLst/>
          </a:prstGeom>
          <a:solidFill>
            <a:srgbClr val="F4F6FA"/>
          </a:solidFill>
          <a:ln w="9525">
            <a:solidFill>
              <a:srgbClr val="D0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2788920"/>
            <a:ext cx="10515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C2C4C"/>
                </a:solidFill>
                <a:latin typeface="Menlo"/>
              </a:rPr>
              <a:t>library(httr)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C2C4C"/>
                </a:solidFill>
                <a:latin typeface="Menlo"/>
              </a:rPr>
              <a:t>library(jsonlite)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C2C4C"/>
                </a:solidFill>
                <a:latin typeface="Menlo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i="1">
                <a:solidFill>
                  <a:srgbClr val="708090"/>
                </a:solidFill>
                <a:latin typeface="Menlo"/>
              </a:rPr>
              <a:t># Función que consulta un pokémon y maneja errores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C2C4C"/>
                </a:solidFill>
                <a:latin typeface="Menlo"/>
              </a:rPr>
              <a:t>consulta_pokemon &lt;- function(id)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C2C4C"/>
                </a:solidFill>
                <a:latin typeface="Menlo"/>
              </a:rPr>
              <a:t>  url &lt;- paste0("https://pokeapi.co/api/v2/pokemon/", id)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C2C4C"/>
                </a:solidFill>
                <a:latin typeface="Menlo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C2C4C"/>
                </a:solidFill>
                <a:latin typeface="Menlo"/>
              </a:rPr>
              <a:t>  tryCatch({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C2C4C"/>
                </a:solidFill>
                <a:latin typeface="Menlo"/>
              </a:rPr>
              <a:t>    r &lt;- GET(url)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C2C4C"/>
                </a:solidFill>
                <a:latin typeface="Menlo"/>
              </a:rPr>
              <a:t>    stopifnot(status_code(r) == 200)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C2C4C"/>
                </a:solidFill>
                <a:latin typeface="Menlo"/>
              </a:rPr>
              <a:t>    datos &lt;- fromJSON(content(r, "text"), flatten = TRUE)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C2C4C"/>
                </a:solidFill>
                <a:latin typeface="Menlo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C2C4C"/>
                </a:solidFill>
                <a:latin typeface="Menlo"/>
              </a:rPr>
              <a:t>    tibble(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C2C4C"/>
                </a:solidFill>
                <a:latin typeface="Menlo"/>
              </a:rPr>
              <a:t>      id     = datos$id,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C2C4C"/>
                </a:solidFill>
                <a:latin typeface="Menlo"/>
              </a:rPr>
              <a:t>      nombre = datos$name,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C2C4C"/>
                </a:solidFill>
                <a:latin typeface="Menlo"/>
              </a:rPr>
              <a:t>      peso   = datos$weight,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C2C4C"/>
                </a:solidFill>
                <a:latin typeface="Menlo"/>
              </a:rPr>
              <a:t>      altura = datos$height,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C2C4C"/>
                </a:solidFill>
                <a:latin typeface="Menlo"/>
              </a:rPr>
              <a:t>      sprite = datos$sprites.front_default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C2C4C"/>
                </a:solidFill>
                <a:latin typeface="Menlo"/>
              </a:rPr>
              <a:t>    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C2C4C"/>
                </a:solidFill>
                <a:latin typeface="Menlo"/>
              </a:rPr>
              <a:t>  }, error = function(e)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C2C4C"/>
                </a:solidFill>
                <a:latin typeface="Menlo"/>
              </a:rPr>
              <a:t>    message("Fallo en id ", id, ": ", e$message)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C2C4C"/>
                </a:solidFill>
                <a:latin typeface="Menlo"/>
              </a:rPr>
              <a:t>    NULL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C2C4C"/>
                </a:solidFill>
                <a:latin typeface="Menlo"/>
              </a:rPr>
              <a:t>  })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C2C4C"/>
                </a:solidFill>
                <a:latin typeface="Menlo"/>
              </a:rP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C2C4C"/>
                </a:solidFill>
                <a:latin typeface="Menlo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i="1">
                <a:solidFill>
                  <a:srgbClr val="708090"/>
                </a:solidFill>
                <a:latin typeface="Menlo"/>
              </a:rPr>
              <a:t># Iterar sobre los 151 y apilar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C2C4C"/>
                </a:solidFill>
                <a:latin typeface="Menlo"/>
              </a:rPr>
              <a:t>pokedex &lt;- lapply(1:151, consulta_pokemon) %&gt;%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C2C4C"/>
                </a:solidFill>
                <a:latin typeface="Menlo"/>
              </a:rPr>
              <a:t>  do.call(rbind, .)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6144768" cy="7772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ctr"/>
            <a:r>
              <a:rPr sz="2600" b="1">
                <a:solidFill>
                  <a:srgbClr val="FFFFFF"/>
                </a:solidFill>
                <a:latin typeface="Helvetica Neue"/>
              </a:rPr>
              <a:t>Buenas prácticas al iterar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972800" cy="4297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 indent="-342900" marL="457200">
              <a:spcAft>
                <a:spcPts val="1000"/>
              </a:spcAft>
              <a:buChar char="•"/>
              <a:buSzPct val="100000"/>
            </a:pPr>
            <a:r>
              <a:rPr sz="2100" b="1" i="0" u="none">
                <a:solidFill>
                  <a:srgbClr val="1A1A1A"/>
                </a:solidFill>
                <a:latin typeface="Helvetica Neue"/>
              </a:rPr>
              <a:t>Pausa</a:t>
            </a:r>
            <a:r>
              <a:rPr sz="2100" b="0" i="0" u="none">
                <a:solidFill>
                  <a:srgbClr val="1A1A1A"/>
                </a:solidFill>
                <a:latin typeface="Helvetica Neue"/>
              </a:rPr>
              <a:t> entre llamadas: </a:t>
            </a:r>
            <a:r>
              <a:rPr sz="2100" b="0" i="0" u="none">
                <a:solidFill>
                  <a:srgbClr val="1F3864"/>
                </a:solidFill>
                <a:latin typeface="Menlo"/>
              </a:rPr>
              <a:t>Sys.sleep(0.5)</a:t>
            </a:r>
            <a:r>
              <a:rPr sz="2100" b="0" i="0" u="none">
                <a:solidFill>
                  <a:srgbClr val="1A1A1A"/>
                </a:solidFill>
                <a:latin typeface="Helvetica Neue"/>
              </a:rPr>
              <a:t> para respetar el servidor.</a:t>
            </a:r>
          </a:p>
          <a:p>
            <a:pPr algn="l" indent="-342900" marL="457200">
              <a:spcAft>
                <a:spcPts val="1000"/>
              </a:spcAft>
              <a:buChar char="•"/>
              <a:buSzPct val="100000"/>
            </a:pPr>
            <a:r>
              <a:rPr sz="2100" b="1" i="0" u="none">
                <a:solidFill>
                  <a:srgbClr val="1A1A1A"/>
                </a:solidFill>
                <a:latin typeface="Helvetica Neue"/>
              </a:rPr>
              <a:t>Cachea</a:t>
            </a:r>
            <a:r>
              <a:rPr sz="2100" b="0" i="0" u="none">
                <a:solidFill>
                  <a:srgbClr val="1A1A1A"/>
                </a:solidFill>
                <a:latin typeface="Helvetica Neue"/>
              </a:rPr>
              <a:t> resultados en disco (</a:t>
            </a:r>
            <a:r>
              <a:rPr sz="2100" b="0" i="0" u="none">
                <a:solidFill>
                  <a:srgbClr val="1F3864"/>
                </a:solidFill>
                <a:latin typeface="Menlo"/>
              </a:rPr>
              <a:t>saveRDS()</a:t>
            </a:r>
            <a:r>
              <a:rPr sz="2100" b="0" i="0" u="none">
                <a:solidFill>
                  <a:srgbClr val="1A1A1A"/>
                </a:solidFill>
                <a:latin typeface="Helvetica Neue"/>
              </a:rPr>
              <a:t>) para no repetir llamadas pagadas.</a:t>
            </a:r>
          </a:p>
          <a:p>
            <a:pPr algn="l" indent="-342900" marL="457200">
              <a:spcAft>
                <a:spcPts val="1000"/>
              </a:spcAft>
              <a:buChar char="•"/>
              <a:buSzPct val="100000"/>
            </a:pPr>
            <a:r>
              <a:rPr sz="2100" b="1" i="0" u="none">
                <a:solidFill>
                  <a:srgbClr val="1A1A1A"/>
                </a:solidFill>
                <a:latin typeface="Helvetica Neue"/>
              </a:rPr>
              <a:t>Retry con backoff</a:t>
            </a:r>
            <a:r>
              <a:rPr sz="2100" b="0" i="0" u="none">
                <a:solidFill>
                  <a:srgbClr val="1A1A1A"/>
                </a:solidFill>
                <a:latin typeface="Helvetica Neue"/>
              </a:rPr>
              <a:t> en códigos 429 y 500.</a:t>
            </a:r>
          </a:p>
          <a:p>
            <a:pPr algn="l" indent="-342900" marL="457200">
              <a:spcAft>
                <a:spcPts val="1000"/>
              </a:spcAft>
              <a:buChar char="•"/>
              <a:buSzPct val="100000"/>
            </a:pPr>
            <a:r>
              <a:rPr sz="2100" b="0" i="0" u="none">
                <a:solidFill>
                  <a:srgbClr val="1A1A1A"/>
                </a:solidFill>
                <a:latin typeface="Helvetica Neue"/>
              </a:rPr>
              <a:t>Guarda los </a:t>
            </a:r>
            <a:r>
              <a:rPr sz="2100" b="1" i="0" u="none">
                <a:solidFill>
                  <a:srgbClr val="1A1A1A"/>
                </a:solidFill>
                <a:latin typeface="Helvetica Neue"/>
              </a:rPr>
              <a:t>tokens fuera del código</a:t>
            </a:r>
            <a:r>
              <a:rPr sz="2100" b="0" i="0" u="none">
                <a:solidFill>
                  <a:srgbClr val="1A1A1A"/>
                </a:solidFill>
                <a:latin typeface="Helvetica Neue"/>
              </a:rPr>
              <a:t> con </a:t>
            </a:r>
            <a:r>
              <a:rPr sz="2100" b="0" i="0" u="none">
                <a:solidFill>
                  <a:srgbClr val="1F3864"/>
                </a:solidFill>
                <a:latin typeface="Menlo"/>
              </a:rPr>
              <a:t>usethis::edit_r_environ()</a:t>
            </a:r>
            <a:r>
              <a:rPr sz="2100" b="0" i="0" u="none">
                <a:solidFill>
                  <a:srgbClr val="1A1A1A"/>
                </a:solidFill>
                <a:latin typeface="Helvetica Neue"/>
              </a:rPr>
              <a:t>.</a:t>
            </a:r>
          </a:p>
          <a:p>
            <a:pPr algn="l" indent="-342900" marL="457200">
              <a:spcAft>
                <a:spcPts val="1000"/>
              </a:spcAft>
              <a:buChar char="•"/>
              <a:buSzPct val="100000"/>
            </a:pPr>
            <a:r>
              <a:rPr sz="2100" b="0" i="0" u="none">
                <a:solidFill>
                  <a:srgbClr val="1A1A1A"/>
                </a:solidFill>
                <a:latin typeface="Helvetica Neue"/>
              </a:rPr>
              <a:t>Revisa el </a:t>
            </a:r>
            <a:r>
              <a:rPr sz="2100" b="1" i="0" u="none">
                <a:solidFill>
                  <a:srgbClr val="1A1A1A"/>
                </a:solidFill>
                <a:latin typeface="Helvetica Neue"/>
              </a:rPr>
              <a:t>status code</a:t>
            </a:r>
            <a:r>
              <a:rPr sz="2100" b="0" i="0" u="none">
                <a:solidFill>
                  <a:srgbClr val="1A1A1A"/>
                </a:solidFill>
                <a:latin typeface="Helvetica Neue"/>
              </a:rPr>
              <a:t> antes de procesar la respuesta.</a:t>
            </a:r>
          </a:p>
          <a:p>
            <a:pPr algn="l" indent="-342900" marL="457200">
              <a:spcAft>
                <a:spcPts val="1000"/>
              </a:spcAft>
              <a:buChar char="•"/>
              <a:buSzPct val="100000"/>
            </a:pPr>
            <a:r>
              <a:rPr sz="2100" b="0" i="0" u="none">
                <a:solidFill>
                  <a:srgbClr val="1A1A1A"/>
                </a:solidFill>
                <a:latin typeface="Helvetica Neue"/>
              </a:rPr>
              <a:t>Lee la </a:t>
            </a:r>
            <a:r>
              <a:rPr sz="2100" b="0" i="0" u="sng">
                <a:solidFill>
                  <a:srgbClr val="1A1A1A"/>
                </a:solidFill>
                <a:latin typeface="Helvetica Neue"/>
              </a:rPr>
              <a:t>documentación de rate limits</a:t>
            </a:r>
            <a:r>
              <a:rPr sz="2100" b="0" i="0" u="none">
                <a:solidFill>
                  <a:srgbClr val="1A1A1A"/>
                </a:solidFill>
                <a:latin typeface="Helvetica Neue"/>
              </a:rPr>
              <a:t> antes de iterar masivamente.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6126480"/>
            <a:ext cx="10881360" cy="2468880"/>
          </a:xfrm>
          <a:prstGeom prst="rect">
            <a:avLst/>
          </a:prstGeom>
          <a:solidFill>
            <a:srgbClr val="F4F6FA"/>
          </a:solidFill>
          <a:ln w="9525">
            <a:solidFill>
              <a:srgbClr val="D0D6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626364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i="1">
                <a:solidFill>
                  <a:srgbClr val="708090"/>
                </a:solidFill>
                <a:latin typeface="Menlo"/>
              </a:rPr>
              <a:t># Cachear resultados para no volver a pagar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1C2C4C"/>
                </a:solidFill>
                <a:latin typeface="Menlo"/>
              </a:rPr>
              <a:t>if (file.exists("resultados.rds"))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1C2C4C"/>
                </a:solidFill>
                <a:latin typeface="Menlo"/>
              </a:rPr>
              <a:t>  resultados &lt;- readRDS("resultados.rds")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1C2C4C"/>
                </a:solidFill>
                <a:latin typeface="Menlo"/>
              </a:rPr>
              <a:t>} else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1C2C4C"/>
                </a:solidFill>
                <a:latin typeface="Menlo"/>
              </a:rPr>
              <a:t>  resultados &lt;- lapply(ids, consulta_pokemon)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1C2C4C"/>
                </a:solidFill>
                <a:latin typeface="Menlo"/>
              </a:rPr>
              <a:t>  saveRDS(resultados, "resultados.rds")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1C2C4C"/>
                </a:solidFill>
                <a:latin typeface="Menlo"/>
              </a:rPr>
              <a:t>}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6400800" cy="777240"/>
          </a:xfrm>
          <a:prstGeom prst="rect">
            <a:avLst/>
          </a:prstGeom>
          <a:solidFill>
            <a:srgbClr val="C81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ctr"/>
            <a:r>
              <a:rPr sz="3000" b="1">
                <a:solidFill>
                  <a:srgbClr val="FFFFFF"/>
                </a:solidFill>
                <a:latin typeface="Helvetica Neue"/>
              </a:rPr>
              <a:t>Ejercicio práctico, ahora sí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920240"/>
            <a:ext cx="1097280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 i="0" u="none">
                <a:solidFill>
                  <a:srgbClr val="1A1A1A"/>
                </a:solidFill>
                <a:latin typeface="Helvetica Neue"/>
              </a:rPr>
              <a:t>Con todo esto ya puedes resolver el ejercicio de la clase 09: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97280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 indent="-342900" marL="457200">
              <a:spcAft>
                <a:spcPts val="1400"/>
              </a:spcAft>
              <a:buChar char="•"/>
              <a:buSzPct val="100000"/>
            </a:pPr>
            <a:r>
              <a:rPr sz="2200" b="0" i="0" u="none">
                <a:solidFill>
                  <a:srgbClr val="1A1A1A"/>
                </a:solidFill>
                <a:latin typeface="Helvetica Neue"/>
              </a:rPr>
              <a:t>PokéAPI + </a:t>
            </a:r>
            <a:r>
              <a:rPr sz="2200" b="0" i="0" u="none">
                <a:solidFill>
                  <a:srgbClr val="1F3864"/>
                </a:solidFill>
                <a:latin typeface="Menlo"/>
              </a:rPr>
              <a:t>lapply()</a:t>
            </a:r>
            <a:r>
              <a:rPr sz="2200" b="0" i="0" u="none">
                <a:solidFill>
                  <a:srgbClr val="1A1A1A"/>
                </a:solidFill>
                <a:latin typeface="Helvetica Neue"/>
              </a:rPr>
              <a:t> para los 151 pokémon</a:t>
            </a:r>
          </a:p>
          <a:p>
            <a:pPr algn="l" indent="-342900" marL="457200">
              <a:spcAft>
                <a:spcPts val="1400"/>
              </a:spcAft>
              <a:buChar char="•"/>
              <a:buSzPct val="100000"/>
            </a:pPr>
            <a:r>
              <a:rPr sz="2200" b="0" i="0" u="none">
                <a:solidFill>
                  <a:srgbClr val="1A1A1A"/>
                </a:solidFill>
                <a:latin typeface="Helvetica Neue"/>
              </a:rPr>
              <a:t>Open-Meteo / tidyquant / inegiR — clientes directos</a:t>
            </a:r>
          </a:p>
          <a:p>
            <a:pPr algn="l" indent="-342900" marL="457200">
              <a:spcAft>
                <a:spcPts val="1400"/>
              </a:spcAft>
              <a:buChar char="•"/>
              <a:buSzPct val="100000"/>
            </a:pPr>
            <a:r>
              <a:rPr sz="2200" b="0" i="0" u="none">
                <a:solidFill>
                  <a:srgbClr val="1F3864"/>
                </a:solidFill>
                <a:latin typeface="Menlo"/>
              </a:rPr>
              <a:t>tuber</a:t>
            </a:r>
            <a:r>
              <a:rPr sz="2200" b="0" i="0" u="none">
                <a:solidFill>
                  <a:srgbClr val="1A1A1A"/>
                </a:solidFill>
                <a:latin typeface="Helvetica Neue"/>
              </a:rPr>
              <a:t> para bajar comentarios de YouTube</a:t>
            </a:r>
          </a:p>
          <a:p>
            <a:pPr algn="l" indent="-342900" marL="457200">
              <a:spcAft>
                <a:spcPts val="1400"/>
              </a:spcAft>
              <a:buChar char="•"/>
              <a:buSzPct val="100000"/>
            </a:pPr>
            <a:r>
              <a:rPr sz="2200" b="0" i="0" u="none">
                <a:solidFill>
                  <a:srgbClr val="1F3864"/>
                </a:solidFill>
                <a:latin typeface="Menlo"/>
              </a:rPr>
              <a:t>ellmer::chat_google_gemini()</a:t>
            </a:r>
            <a:r>
              <a:rPr sz="2200" b="0" i="0" u="none">
                <a:solidFill>
                  <a:srgbClr val="1A1A1A"/>
                </a:solidFill>
                <a:latin typeface="Helvetica Neue"/>
              </a:rPr>
              <a:t> para detectar discurso de odio</a:t>
            </a:r>
          </a:p>
          <a:p>
            <a:pPr algn="l" indent="-342900" marL="457200">
              <a:spcAft>
                <a:spcPts val="1400"/>
              </a:spcAft>
              <a:buChar char="•"/>
              <a:buSzPct val="100000"/>
            </a:pPr>
            <a:r>
              <a:rPr sz="2200" b="0" i="0" u="none">
                <a:solidFill>
                  <a:srgbClr val="1F3864"/>
                </a:solidFill>
                <a:latin typeface="Menlo"/>
              </a:rPr>
              <a:t>ellmer::chat_ollama()</a:t>
            </a:r>
            <a:r>
              <a:rPr sz="2200" b="0" i="0" u="none">
                <a:solidFill>
                  <a:srgbClr val="1A1A1A"/>
                </a:solidFill>
                <a:latin typeface="Helvetica Neue"/>
              </a:rPr>
              <a:t> para repetir el proceso </a:t>
            </a:r>
            <a:r>
              <a:rPr sz="2200" b="0" i="0" u="sng">
                <a:solidFill>
                  <a:srgbClr val="1A1A1A"/>
                </a:solidFill>
                <a:latin typeface="Helvetica Neue"/>
              </a:rPr>
              <a:t>en local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7498079"/>
            <a:ext cx="10881360" cy="10972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7680960"/>
            <a:ext cx="105156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2100" b="0" i="1" u="none">
                <a:solidFill>
                  <a:srgbClr val="FFFFFF"/>
                </a:solidFill>
                <a:latin typeface="Helvetica Neue"/>
              </a:rPr>
              <a:t>Siempre que sea posible: usa un cliente. </a:t>
            </a:r>
            <a:r>
              <a:rPr sz="2100" b="0" i="1" u="none">
                <a:solidFill>
                  <a:srgbClr val="FFFFFF"/>
                </a:solidFill>
                <a:latin typeface="Helvetica Neue"/>
              </a:rPr>
              <a:t>Cuando no exista: </a:t>
            </a:r>
            <a:r>
              <a:rPr sz="2100" b="0" i="1" u="none">
                <a:solidFill>
                  <a:srgbClr val="B8D0E8"/>
                </a:solidFill>
                <a:latin typeface="Menlo"/>
              </a:rPr>
              <a:t>httr + jsonlite</a:t>
            </a:r>
            <a:r>
              <a:rPr sz="2100" b="0" i="1" u="none">
                <a:solidFill>
                  <a:srgbClr val="FFFFFF"/>
                </a:solidFill>
                <a:latin typeface="Helvetica Neue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