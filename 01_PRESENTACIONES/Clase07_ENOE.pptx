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1E4C7D"/>
                </a:solidFill>
                <a:latin typeface="Ubuntu"/>
              </a:defRPr>
            </a:pPr>
            <a:r>
              <a:t>Tecnologico de Monterrey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60"/>
              </a:lnSpc>
              <a:spcAft>
                <a:spcPts val="400"/>
              </a:spcAft>
              <a:defRPr sz="6400" b="1">
                <a:solidFill>
                  <a:srgbClr val="1E4C7D"/>
                </a:solidFill>
                <a:latin typeface="Ubuntu"/>
              </a:defRPr>
            </a:pPr>
            <a:r>
              <a:t>07. ENOE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400"/>
              </a:spcAft>
              <a:defRPr sz="2600" b="1">
                <a:solidFill>
                  <a:srgbClr val="1E4C7D"/>
                </a:solidFill>
                <a:latin typeface="Ubuntu"/>
              </a:defRPr>
            </a:pPr>
            <a:r>
              <a:t>Modulo 5.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46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0000"/>
                </a:solidFill>
                <a:latin typeface="Ubuntu"/>
              </a:rPr>
              <a:t>Jorge Juvenal
Campos Ferreira</a:t>
            </a:r>
          </a:p>
          <a:p>
            <a:pPr algn="r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C0392B"/>
                </a:solidFill>
                <a:latin typeface="Ubuntu"/>
              </a:rPr>
              <a:t>juvenal.campos@tec.mx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4846320"/>
            <a:ext cx="36576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ENOE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Encuesta Nacional de Ocupacion y Empleo (ENOE)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es el principal instrumento estadistico que realiza el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INEGI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de forma continua (trimestral) en Mexico, con el objetivo de recopilar informacion detallada sobre las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condiciones del mercado laboral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: empleo, desempleo, informalidad y caracteristicas de la fuerza de trabajo.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Su unidad de analisis son las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personas de 15 anos y mas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que residen en viviendas particulares seleccionadas en todo el territorio nacional.</a:t>
            </a:r>
          </a:p>
          <a:p>
            <a:pPr algn="l">
              <a:lnSpc>
                <a:spcPts val="2400"/>
              </a:lnSpc>
              <a:spcBef>
                <a:spcPts val="1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Inicio en el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primer trimestre de 2005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, reemplazando a la ENE (Encuesta Nacional de Empleo).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743200"/>
            <a:ext cx="3200400" cy="22860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4C7D"/>
                </a:solidFill>
                <a:latin typeface="Ubuntu"/>
              </a:rPr>
              <a:t>Empleo y Ocupacion
en Mexico</a:t>
            </a:r>
          </a:p>
          <a:p>
            <a:pPr algn="ctr">
              <a:spcBef>
                <a:spcPts val="1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300" b="0" i="0">
                <a:solidFill>
                  <a:srgbClr val="555555"/>
                </a:solidFill>
                <a:latin typeface="Ubuntu"/>
              </a:rPr>
              <a:t>~120,000 viviendas
por trimestre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300" b="0" i="0">
                <a:solidFill>
                  <a:srgbClr val="555555"/>
                </a:solidFill>
                <a:latin typeface="Ubuntu"/>
              </a:rPr>
              <a:t>~400,000 personas
entrevistadas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1463040" cy="1463040"/>
          </a:xfrm>
          <a:prstGeom prst="round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6000" b="1" i="0">
                <a:solidFill>
                  <a:srgbClr val="FFFFFF"/>
                </a:solidFill>
                <a:latin typeface="Ubuntu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000000"/>
                </a:solidFill>
                <a:latin typeface="Ubuntu"/>
              </a:defRPr>
            </a:pPr>
            <a:r>
              <a:t>Encuesta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45920"/>
            <a:ext cx="1463040" cy="1463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6000" b="1" i="0">
                <a:solidFill>
                  <a:srgbClr val="FFFFFF"/>
                </a:solidFill>
                <a:latin typeface="Ubuntu"/>
              </a:rPr>
              <a:t>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46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000000"/>
                </a:solidFill>
                <a:latin typeface="Ubuntu"/>
              </a:defRPr>
            </a:pPr>
            <a:r>
              <a:t>Nacional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46304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6000" b="1" i="0">
                <a:solidFill>
                  <a:srgbClr val="FFFFFF"/>
                </a:solidFill>
                <a:latin typeface="Ubuntu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246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000000"/>
                </a:solidFill>
                <a:latin typeface="Ubuntu"/>
              </a:defRPr>
            </a:pPr>
            <a:r>
              <a:t>Ocupacion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1463040" cy="1463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6000" b="1" i="0">
                <a:solidFill>
                  <a:srgbClr val="FFFFFF"/>
                </a:solidFill>
                <a:latin typeface="Ubuntu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9" y="3246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000000"/>
                </a:solidFill>
                <a:latin typeface="Ubuntu"/>
              </a:defRPr>
            </a:pPr>
            <a:r>
              <a:t>Empleo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219456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51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1E4C7D"/>
                </a:solidFill>
                <a:latin typeface="Ubuntu"/>
              </a:defRPr>
            </a:pPr>
            <a:r>
              <a:t>Indicadores de</a:t>
            </a:r>
            <a:br/>
            <a:r>
              <a:t>empleo y desempleo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114800"/>
            <a:ext cx="219456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4251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1E4C7D"/>
                </a:solidFill>
                <a:latin typeface="Ubuntu"/>
              </a:defRPr>
            </a:pPr>
            <a:r>
              <a:t>Publicacion</a:t>
            </a:r>
            <a:br/>
            <a:r>
              <a:t>trimestral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114800"/>
            <a:ext cx="219456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251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1E4C7D"/>
                </a:solidFill>
                <a:latin typeface="Ubuntu"/>
              </a:defRPr>
            </a:pPr>
            <a:r>
              <a:t>Seguimiento</a:t>
            </a:r>
            <a:br/>
            <a:r>
              <a:t>panel rotativo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 - Encuesta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Una encuesta ("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") es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un ejercicio estadistico en el que se recopila informacion de una muestra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—un subconjunto de la poblacion— disenada para ser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representativa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del universo que se quiere estudiar.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En el caso de la ENOE, INEGI selecciona aproximadamente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120,000 viviendas cada trimestre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distribuidas en todo el territorio nacional, y a partir de las respuestas de sus habitantes infiere las condiciones laborales de toda la poblacion de 15 anos y mas.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73152" cy="256032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8046720" cy="2560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0000"/>
                </a:solidFill>
                <a:latin typeface="Ubuntu"/>
              </a:rPr>
              <a:t>Ventajas de la encuesta continua: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1. Frecuencia.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Se levanta cada trimestre, no cada 10 anos como un censo.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2. Profundidad tematica.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Se enfoca en el mercado laboral con gran detalle.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3. Oportunidad.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Resultados disponibles pocas semanas despues del cierre.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4. Seguimiento.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Permite observar cambios en el tiempo gracias al panel rotativo.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N - Nacional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"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N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" corresponde a </a:t>
            </a:r>
            <a:r>
              <a:rPr sz="1800" b="0" i="1">
                <a:solidFill>
                  <a:srgbClr val="000000"/>
                </a:solidFill>
                <a:latin typeface="Ubuntu"/>
              </a:rPr>
              <a:t>Nacional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 Esto enfatiza que l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os resultados de la ENOE tienen cobertura de todo el territorio mexicano y permiten realizar estimaciones a nivel pais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diseno muestral tambien habilita </a:t>
            </a:r>
            <a:r>
              <a:rPr sz="1800" b="1" i="1">
                <a:solidFill>
                  <a:srgbClr val="000000"/>
                </a:solidFill>
                <a:latin typeface="Ubuntu"/>
              </a:rPr>
              <a:t>desagregaciones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por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entidad federativa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, por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tamano de localidad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, por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ambitos rural/urbano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y por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39 ciudades autorrepresentadas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caracter nacional le da </a:t>
            </a:r>
            <a:r>
              <a:rPr sz="1800" b="1" i="0">
                <a:solidFill>
                  <a:srgbClr val="1E4C7D"/>
                </a:solidFill>
                <a:latin typeface="Ubuntu"/>
              </a:rPr>
              <a:t>legitimidad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para ser la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fuente oficial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de las estadisticas de empleo en Mexico.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utilizada por: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0" i="0">
                <a:solidFill>
                  <a:srgbClr val="000000"/>
                </a:solidFill>
                <a:latin typeface="Ubuntu"/>
              </a:rPr>
              <a:t>  • Banxico – politica monetaria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0" i="0">
                <a:solidFill>
                  <a:srgbClr val="000000"/>
                </a:solidFill>
                <a:latin typeface="Ubuntu"/>
              </a:rPr>
              <a:t>  • STPS – politica laboral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0" i="0">
                <a:solidFill>
                  <a:srgbClr val="000000"/>
                </a:solidFill>
                <a:latin typeface="Ubuntu"/>
              </a:rPr>
              <a:t>  • CONEVAL – medicion de pobreza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0" i="0">
                <a:solidFill>
                  <a:srgbClr val="000000"/>
                </a:solidFill>
                <a:latin typeface="Ubuntu"/>
              </a:rPr>
              <a:t>  • OIT – comparaciones internacionales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0" i="0">
                <a:solidFill>
                  <a:srgbClr val="000000"/>
                </a:solidFill>
                <a:latin typeface="Ubuntu"/>
              </a:rPr>
              <a:t>  • Sector privado – analisis de mercado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O - Ocupacion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"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O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" corresponde a </a:t>
            </a:r>
            <a:r>
              <a:rPr sz="1800" b="0" i="1">
                <a:solidFill>
                  <a:srgbClr val="000000"/>
                </a:solidFill>
                <a:latin typeface="Ubuntu"/>
              </a:rPr>
              <a:t>Ocupacion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 Este componente captura las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actividades economicas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que realizan las personas: que tipo de trabajo desempenan, en que sector, que posicion tienen, cuantas horas trabajan y cuanto ganan.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Ubuntu"/>
              </a:rPr>
              <a:t>La ENOE permite clasificar a la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poblacion ocupada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por: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• Sector de actividad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555555"/>
                </a:solidFill>
                <a:latin typeface="Ubuntu"/>
              </a:rPr>
              <a:t>   Primario, secundario, terciario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• Posicion en la ocupacion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555555"/>
                </a:solidFill>
                <a:latin typeface="Ubuntu"/>
              </a:rPr>
              <a:t>   Subordinados, cuenta propia, empleadores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• Tamano de establecimiento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555555"/>
                </a:solidFill>
                <a:latin typeface="Ubuntu"/>
              </a:rPr>
              <a:t>   Micro, pequena, mediana, grande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• Nivel de ingresos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555555"/>
                </a:solidFill>
                <a:latin typeface="Ubuntu"/>
              </a:rPr>
              <a:t>   En multiplos del salario minimo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2062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• Formalidad / Informalidad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555555"/>
                </a:solidFill>
                <a:latin typeface="Ubuntu"/>
              </a:rPr>
              <a:t>   Con o sin acceso a seguridad 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• Jornada laboral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555555"/>
                </a:solidFill>
                <a:latin typeface="Ubuntu"/>
              </a:rPr>
              <a:t>   Horas trabajadas por semana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 - Empleo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segunda "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" corresponde a </a:t>
            </a:r>
            <a:r>
              <a:rPr sz="1800" b="0" i="1">
                <a:solidFill>
                  <a:srgbClr val="000000"/>
                </a:solidFill>
                <a:latin typeface="Ubuntu"/>
              </a:rPr>
              <a:t>Empleo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 Clasifica a toda la poblacion de 15 anos y mas en categorias mutuamente excluyentes, siguiendo las recomendaciones de la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OIT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402336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Ubuntu"/>
              </a:defRPr>
            </a:pPr>
            <a:r>
              <a:t>Poblacion Economicamente Activa (PEA)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840480" cy="54864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Ocupados: tienen un empleo</a:t>
            </a:r>
            <a:br/>
            <a:r>
              <a:t>(formal o informal)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3840480" cy="54864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Desocupados: no tienen empleo</a:t>
            </a:r>
            <a:br/>
            <a:r>
              <a:t>pero lo buscan activamente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286000"/>
            <a:ext cx="4023360" cy="5029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331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Ubuntu"/>
              </a:defRPr>
            </a:pPr>
            <a:r>
              <a:t>Poblacion No Economicamente Activa (PNEA)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926080"/>
            <a:ext cx="3840480" cy="548640"/>
          </a:xfrm>
          <a:prstGeom prst="roundRect">
            <a:avLst/>
          </a:prstGeom>
          <a:solidFill>
            <a:srgbClr val="EA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Disponibles: no buscan pero</a:t>
            </a:r>
            <a:br/>
            <a:r>
              <a:t>aceptarian trabajar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611880"/>
            <a:ext cx="3840480" cy="54864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No disponibles: estudiantes,</a:t>
            </a:r>
            <a:br/>
            <a:r>
              <a:t>jubilados, personas del hogar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Esta clasificacion sigue las recomendaciones de la Organizacion Internacional del Trabajo (OIT).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8229600" cy="36576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E4C7D"/>
                </a:solidFill>
                <a:latin typeface="Ubuntu"/>
              </a:rPr>
              <a:t>Indicadores derivados: </a:t>
            </a:r>
            <a:r>
              <a:rPr sz="1400" b="0" i="0">
                <a:solidFill>
                  <a:srgbClr val="555555"/>
                </a:solidFill>
                <a:latin typeface="Ubuntu"/>
              </a:rPr>
              <a:t>Tasa de desocupacion (TD), Tasa de informalidad laboral (TIL), Tasa de subocupacion, Tasa de participacion, Tasa de condiciones criticas de ocupacion (TCCO), Tasa de presion general (TPRG).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ENOE vs. ENIGH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Ubuntu"/>
              </a:rPr>
              <a:t>Ambas son encuestas del INEGI con cobertura nacional, pero miden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fenomenos distintos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4800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ENOE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ENIGH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Mercado laboral (empleo,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desempleo, informalidad)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Ingresos y gastos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de los hogares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Trimestral (continua)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Bienal (cada 2 anos)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Unidad de analisis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Personas de 15+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Hogares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Muestra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~120,000 viv./trimestre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~90,000 viv./levantamiento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Diseno temporal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Panel rotativo (5 visitas)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Corte transversal (1 visita)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Ingresos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Solo laborales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(cuestionario corto)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Todos los ingresos +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gastos detallados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Usuarios clave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STPS, Banxico, OIT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CONEVAL, politica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73152" cy="73152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Ubuntu"/>
              </a:rPr>
              <a:t>En resumen: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la ENOE mide </a:t>
            </a:r>
            <a:r>
              <a:rPr sz="1500" b="0" i="1">
                <a:solidFill>
                  <a:srgbClr val="000000"/>
                </a:solidFill>
                <a:latin typeface="Ubuntu"/>
              </a:rPr>
              <a:t>quien trabaja, en que y como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; la ENIGH mide </a:t>
            </a:r>
            <a:r>
              <a:rPr sz="1500" b="0" i="1">
                <a:solidFill>
                  <a:srgbClr val="000000"/>
                </a:solidFill>
                <a:latin typeface="Ubuntu"/>
              </a:rPr>
              <a:t>cuanto ganan y en que gastan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 los hogares.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Esquema de panel rotativo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ENOE utiliza un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esquema de panel rotativo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donde cada vivienda seleccionada es visitada durante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5 trimestres consecutivos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 Cada trimestre, se rota el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20%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de la muestra.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841248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000000"/>
                </a:solidFill>
                <a:latin typeface="Ubuntu"/>
              </a:defRPr>
            </a:pPr>
            <a:r>
              <a:t>T1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468880"/>
            <a:ext cx="960120" cy="384048"/>
          </a:xfrm>
          <a:prstGeom prst="round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871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468880"/>
            <a:ext cx="960120" cy="38404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4871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468880"/>
            <a:ext cx="96012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871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468880"/>
            <a:ext cx="960120" cy="384048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4871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68880"/>
            <a:ext cx="96012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4871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000000"/>
                </a:solidFill>
                <a:latin typeface="Ubuntu"/>
              </a:defRPr>
            </a:pPr>
            <a:r>
              <a:t>T2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108960"/>
            <a:ext cx="960120" cy="384048"/>
          </a:xfrm>
          <a:prstGeom prst="round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1272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Ubuntu"/>
              </a:defRPr>
            </a:pPr>
            <a:r>
              <a:t>sale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108960"/>
            <a:ext cx="960120" cy="38404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1272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108960"/>
            <a:ext cx="96012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1272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108960"/>
            <a:ext cx="960120" cy="384048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1272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108960"/>
            <a:ext cx="96012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1272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108960"/>
            <a:ext cx="960120" cy="384048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31272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  <a:defRPr sz="1000" b="1">
                <a:solidFill>
                  <a:srgbClr val="1ABC9C"/>
                </a:solidFill>
                <a:latin typeface="Ubuntu"/>
              </a:defRPr>
            </a:pPr>
            <a:r>
              <a:t>← nuevo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490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000000"/>
                </a:solidFill>
                <a:latin typeface="Ubuntu"/>
              </a:defRPr>
            </a:pPr>
            <a:r>
              <a:t>T3 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749040"/>
            <a:ext cx="960120" cy="384048"/>
          </a:xfrm>
          <a:prstGeom prst="round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Ubuntu"/>
              </a:defRPr>
            </a:pPr>
            <a:r>
              <a:t>sale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3749040"/>
            <a:ext cx="960120" cy="384048"/>
          </a:xfrm>
          <a:prstGeom prst="round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Ubuntu"/>
              </a:defRPr>
            </a:pPr>
            <a:r>
              <a:t>sale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3749040"/>
            <a:ext cx="96012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3749040"/>
            <a:ext cx="960120" cy="384048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3749040"/>
            <a:ext cx="96012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3749040"/>
            <a:ext cx="960120" cy="384048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749040"/>
            <a:ext cx="960120" cy="38404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376732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Ubuntu"/>
              </a:defRPr>
            </a:pPr>
            <a:r>
              <a:t>G-G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749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  <a:defRPr sz="1000" b="1">
                <a:solidFill>
                  <a:srgbClr val="F39C12"/>
                </a:solidFill>
                <a:latin typeface="Ubuntu"/>
              </a:defRPr>
            </a:pPr>
            <a:r>
              <a:t>← nuevo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389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555555"/>
                </a:solidFill>
                <a:latin typeface="Ubuntu"/>
              </a:defRPr>
            </a:pPr>
            <a:r>
              <a:t>Cada grupo (G-A, G-B...) = ~20% de la muestra. En cualquier trimestre, 4 de 5 grupos se comparten con el trimestre anterior.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120640"/>
            <a:ext cx="822960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120640"/>
            <a:ext cx="73152" cy="10972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212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Ubuntu"/>
              </a:rPr>
              <a:t>Ventajas del panel rotativo: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000000"/>
                </a:solidFill>
                <a:latin typeface="Ubuntu"/>
              </a:rPr>
              <a:t>1. Permite medir </a:t>
            </a:r>
            <a:r>
              <a:rPr sz="1400" b="0" i="1">
                <a:solidFill>
                  <a:srgbClr val="000000"/>
                </a:solidFill>
                <a:latin typeface="Ubuntu"/>
              </a:rPr>
              <a:t>transiciones laborales</a:t>
            </a:r>
            <a:r>
              <a:rPr sz="1400" b="0" i="0">
                <a:solidFill>
                  <a:srgbClr val="000000"/>
                </a:solidFill>
                <a:latin typeface="Ubuntu"/>
              </a:rPr>
              <a:t> (ej. de desocupado a ocupado).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400" b="0" i="0">
                <a:solidFill>
                  <a:srgbClr val="000000"/>
                </a:solidFill>
                <a:latin typeface="Ubuntu"/>
              </a:rPr>
              <a:t>2. Reduce la varianza de las estimaciones y distribuye la carga de trabajo de campo.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Seguimiento panel de trabajadores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Gracias al panel rotativo, la ENOE permite hacer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analisis de flujos laborales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: observar como cambia la situacion de las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mismas personas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entre un trimestre y otro.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2651760" cy="13716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7A3A"/>
                </a:solidFill>
                <a:latin typeface="Ubuntu"/>
              </a:defRPr>
            </a:pPr>
            <a:r>
              <a:t>Desocupado → Ocupado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Cuantos encontraron empleo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94560"/>
            <a:ext cx="2651760" cy="13716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C0392B"/>
                </a:solidFill>
                <a:latin typeface="Ubuntu"/>
              </a:defRPr>
            </a:pPr>
            <a:r>
              <a:t>Ocupado → Desocupado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Cuantos perdieron su empleo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2651760" cy="13716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E4C7D"/>
                </a:solidFill>
                <a:latin typeface="Ubuntu"/>
              </a:defRPr>
            </a:pPr>
            <a:r>
              <a:t>Informal → Formal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Transicion a formalidad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Este seguimiento es posible porque las mismas viviendas son revisitadas hasta por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5 trimestres (~15 meses)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822960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73152" cy="91440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Ubuntu"/>
              </a:rPr>
              <a:t>INEGI publica </a:t>
            </a:r>
            <a:r>
              <a:rPr sz="1500" b="1" i="0">
                <a:solidFill>
                  <a:srgbClr val="000000"/>
                </a:solidFill>
                <a:latin typeface="Ubuntu"/>
              </a:rPr>
              <a:t>bases de datos de flujos laborales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 derivadas de este esquema panel, permitiendo estudiar </a:t>
            </a:r>
            <a:r>
              <a:rPr sz="1500" b="0" i="1">
                <a:solidFill>
                  <a:srgbClr val="000000"/>
                </a:solidFill>
                <a:latin typeface="Ubuntu"/>
              </a:rPr>
              <a:t>trayectorias de empleo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 individuales.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Diseno muestral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diseno muestral de la ENOE es el conjunto de reglas y procedimientos que definen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como se seleccionan las viviendas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que seran entrevistadas.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Probabilistico: 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cada vivienda tiene una probabilidad conocida y distinta de cero de ser seleccionada.</a:t>
            </a:r>
          </a:p>
          <a:p>
            <a:pPr algn="l">
              <a:lnSpc>
                <a:spcPts val="2400"/>
              </a:lnSpc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Bietapico: 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primero se seleccionan areas geograficas (UPM), luego viviendas dentro de ellas.</a:t>
            </a:r>
          </a:p>
          <a:p>
            <a:pPr algn="l">
              <a:lnSpc>
                <a:spcPts val="2400"/>
              </a:lnSpc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Estratificado: 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el pais se divide en "estratos" (por ejemplo, entidades federativas, urbano vs. rural) para asegurar que haya representacion de cada uno.</a:t>
            </a:r>
          </a:p>
          <a:p>
            <a:pPr algn="l">
              <a:lnSpc>
                <a:spcPts val="2400"/>
              </a:lnSpc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Por conglomerados: 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se seleccionan primero areas geograficas (como manzanas o AGEBs), y dentro de ellas se eligen las viviendas.</a:t>
            </a:r>
          </a:p>
          <a:p>
            <a:pPr algn="l">
              <a:lnSpc>
                <a:spcPts val="2400"/>
              </a:lnSpc>
              <a:spcBef>
                <a:spcPts val="18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Este diseno determina tambien el tamano de la muestra (~120,000 viviendas por trimestre) y la precision estadistica de los resultados.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Factores de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Cuando el INEGI selecciona una vivienda para la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ENOE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, esa vivienda no solo representa a si misma, sino 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muchas otras viviendas similares en la poblacion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 Para que los datos de la muestra "se expandan" al total de la poblacion, se asigna a cada persona un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factor de expansion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Imagina que se entrevisto a personas en 120,000 viviendas, pero en Mexico hay mas de 35 millones de viviendas.</a:t>
            </a:r>
          </a:p>
          <a:p>
            <a:pPr algn="l">
              <a:lnSpc>
                <a:spcPts val="2600"/>
              </a:lnSpc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Cada persona de la muestra, entonces, debe "representar" a muchas personas reales.</a:t>
            </a:r>
          </a:p>
          <a:p>
            <a:pPr algn="l">
              <a:lnSpc>
                <a:spcPts val="2600"/>
              </a:lnSpc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800" b="0" i="0">
                <a:solidFill>
                  <a:srgbClr val="000000"/>
                </a:solidFill>
                <a:latin typeface="Ubuntu"/>
              </a:rPr>
              <a:t>•  El factor de expansion indica cuantas personas de la poblacion equivale cada persona encuestada.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8229600" cy="13716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46320"/>
            <a:ext cx="73152" cy="137160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0000"/>
                </a:solidFill>
                <a:latin typeface="Ubuntu"/>
              </a:rPr>
              <a:t>Los factores se ajustan por: </a:t>
            </a:r>
            <a:r>
              <a:rPr sz="1600" b="0" i="0">
                <a:solidFill>
                  <a:srgbClr val="000000"/>
                </a:solidFill>
                <a:latin typeface="Ubuntu"/>
              </a:rPr>
              <a:t>probabilidad de seleccion, no respuesta y proyecciones demograficas del CONAPO.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C0392B"/>
                </a:solidFill>
                <a:latin typeface="Ubuntu"/>
              </a:rPr>
              <a:t>Es indispensable usar estos factores al calcular cualquier indicador a nivel poblacional.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Variables clave del diseno muestral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t>Para declarar el diseno de encuesta necesitas estas variables presentes en las tablas de la ENOE: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657600"/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Descripcion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fac_tri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Peso muestral (weights)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Factor de expansion trimestral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fac_men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Peso muestral mensual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Factor para estimaciones mensuales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Conglomerado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Unidad Primaria de Muestreo (cluster)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est_d_tri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Estrato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Estrato de diseno muestral trimestral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555555"/>
                </a:solidFill>
                <a:latin typeface="Ubuntu"/>
              </a:defRPr>
            </a:pPr>
            <a:r>
              <a:t>Nota: El nombre exacto de las variables puede variar entre ediciones. Siempre verifica con el descriptor de la base de datos correspondiente.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Indicadores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t>La ENOE produce los indicadores estrategicos del mercado laboral mexicano: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4114800" cy="118872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7A3A"/>
                </a:solidFill>
                <a:latin typeface="Ubuntu"/>
              </a:defRPr>
            </a:pPr>
            <a:r>
              <a:t>Tasa de desocupacion (TD)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Ubuntu"/>
              </a:defRPr>
            </a:pPr>
            <a:r>
              <a:t>% de la PEA sin empleo que busca activamente.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4114800" cy="118872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C0392B"/>
                </a:solidFill>
                <a:latin typeface="Ubuntu"/>
              </a:defRPr>
            </a:pPr>
            <a:r>
              <a:t>Tasa de informalidad laboral (TIL)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40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Ubuntu"/>
              </a:defRPr>
            </a:pPr>
            <a:r>
              <a:t>% de ocupados en condiciones de informalidad.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108960"/>
            <a:ext cx="4114800" cy="11887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E4C7D"/>
                </a:solidFill>
                <a:latin typeface="Ubuntu"/>
              </a:defRPr>
            </a:pPr>
            <a:r>
              <a:t>Tasa de subocupacion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Ubuntu"/>
              </a:defRPr>
            </a:pPr>
            <a:r>
              <a:t>% de ocupados que buscan trabajar mas horas.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108960"/>
            <a:ext cx="4114800" cy="118872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246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7D6608"/>
                </a:solidFill>
                <a:latin typeface="Ubuntu"/>
              </a:defRPr>
            </a:pPr>
            <a:r>
              <a:t>Tasa de participacion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Ubuntu"/>
              </a:defRPr>
            </a:pPr>
            <a:r>
              <a:t>% de la poblacion 15+ economicamente activa.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72000"/>
            <a:ext cx="4114800" cy="1188720"/>
          </a:xfrm>
          <a:prstGeom prst="roundRect">
            <a:avLst/>
          </a:prstGeom>
          <a:solidFill>
            <a:srgbClr val="F5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6C3483"/>
                </a:solidFill>
                <a:latin typeface="Ubuntu"/>
              </a:defRPr>
            </a:pPr>
            <a:r>
              <a:t>Tasa de condiciones criticas (TCCO)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Ubuntu"/>
              </a:defRPr>
            </a:pPr>
            <a:r>
              <a:t>Ocupados en condiciones precarias de trabajo.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572000"/>
            <a:ext cx="4114800" cy="1188720"/>
          </a:xfrm>
          <a:prstGeom prst="roundRect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709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A04000"/>
                </a:solidFill>
                <a:latin typeface="Ubuntu"/>
              </a:defRPr>
            </a:pPr>
            <a:r>
              <a:t>Tasa de presion general (TPRG)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166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Ubuntu"/>
              </a:defRPr>
            </a:pPr>
            <a:r>
              <a:t>Desocupados + ocupados que buscan otro empleo.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Estos indicadores se publican a nivel nacional, por entidad federativa y por ciudad autorrepresentada.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COVID-19: ETOE y ENOEN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t>La pandemia de COVID-19 obligo a modificar el levantamiento de la ENOE: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45720" cy="411480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61872" y="1783080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E4C7D"/>
                </a:solidFill>
                <a:latin typeface="Ubuntu"/>
              </a:defRPr>
            </a:pPr>
            <a:r>
              <a:t>Marzo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Se suspende el levantamiento presencial de la ENOE por la contingencia sanitaria.</a:t>
            </a:r>
          </a:p>
        </p:txBody>
      </p:sp>
      <p:sp>
        <p:nvSpPr>
          <p:cNvPr id="8" name="Oval 7"/>
          <p:cNvSpPr/>
          <p:nvPr/>
        </p:nvSpPr>
        <p:spPr>
          <a:xfrm>
            <a:off x="1261872" y="2788920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E4C7D"/>
                </a:solidFill>
                <a:latin typeface="Ubuntu"/>
              </a:defRPr>
            </a:pPr>
            <a:r>
              <a:t>Abril - Junio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632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Se implementa la ETOE (Encuesta Telefonica de Ocupacion y Empleo) como medida emergente. Resultados no directamente comparables con la ENOE.</a:t>
            </a:r>
          </a:p>
        </p:txBody>
      </p:sp>
      <p:sp>
        <p:nvSpPr>
          <p:cNvPr id="11" name="Oval 10"/>
          <p:cNvSpPr/>
          <p:nvPr/>
        </p:nvSpPr>
        <p:spPr>
          <a:xfrm>
            <a:off x="1261872" y="3794760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E4C7D"/>
                </a:solidFill>
                <a:latin typeface="Ubuntu"/>
              </a:defRPr>
            </a:pPr>
            <a:r>
              <a:t>Julio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69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Inicia la ENOEN (ENOE Nueva Edicion): modo mixto presencial + telefonico. Mismo marco conceptual.</a:t>
            </a:r>
          </a:p>
        </p:txBody>
      </p:sp>
      <p:sp>
        <p:nvSpPr>
          <p:cNvPr id="14" name="Oval 13"/>
          <p:cNvSpPr/>
          <p:nvPr/>
        </p:nvSpPr>
        <p:spPr>
          <a:xfrm>
            <a:off x="1261872" y="4800600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E4C7D"/>
                </a:solidFill>
                <a:latin typeface="Ubuntu"/>
              </a:defRPr>
            </a:pPr>
            <a:r>
              <a:t>2022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749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Regreso paulatino al levantamiento predominantemente presencial, con modalidad mixta integrada.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822960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73152" cy="73152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Ubuntu"/>
              </a:rPr>
              <a:t>Importante: </a:t>
            </a:r>
            <a:r>
              <a:rPr sz="1400" b="0" i="0">
                <a:solidFill>
                  <a:srgbClr val="000000"/>
                </a:solidFill>
                <a:latin typeface="Ubuntu"/>
              </a:rPr>
              <a:t>al comparar series de tiempo, tener cuidado con el periodo abril-junio 2020 (ETOE), cuyos datos no son estrictamente comparables con la ENOE tradicional.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Preparacion de los datos de la ENOE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t>La ENOE viene en multiples tablas (archivos CSV). Las principales son: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Tabla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Contenido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SDEM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Variables sociodemograficas (sexo, edad, escolaridad, estado civil)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COE1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Condicion de actividad, busqueda de empleo, disponibilidad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Caracteristicas del empleo: ocupacion, sector, horas, ingresos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HOGAR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Caracteristicas de la vivienda y el hogar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VIVIENDA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Datos de identificacion y control de la vivienda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480560"/>
            <a:ext cx="8229600" cy="201168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8C8D"/>
                </a:solidFill>
                <a:latin typeface="Courier New"/>
              </a:rPr>
              <a:t># Cargar las tablas principales de la ENOE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>library(readr)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>sdem     &lt;- read_csv("SDEMT125.csv")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>coe1     &lt;- read_csv("COE1T125.csv")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>coe2     &lt;- read_csv("COE2T125.csv")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>hogar    &lt;- read_csv("HOGARTRIM125.csv")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200" b="0" i="0">
                <a:solidFill>
                  <a:srgbClr val="E0E0E0"/>
                </a:solidFill>
                <a:latin typeface="Courier New"/>
              </a:rPr>
              <a:t>vivienda &lt;- read_csv("VIVTRIM125.csv")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Clasificadores y catalogos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t>La ENOE utiliza clasificadores estandarizados para codificar las respuestas: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1E4C7D"/>
                </a:solidFill>
                <a:latin typeface="Ubuntu"/>
              </a:defRPr>
            </a:pPr>
            <a:r>
              <a:t>SINCO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Sistema Nacional de</a:t>
            </a:r>
            <a:br/>
            <a:r>
              <a:t>Clasificacion de Ocupaciones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555555"/>
                </a:solidFill>
                <a:latin typeface="Ubuntu"/>
              </a:defRPr>
            </a:pPr>
            <a:r>
              <a:t>Clasifica los tipos de trabajo</a:t>
            </a:r>
            <a:br/>
            <a:r>
              <a:t>que realizan las personas.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27AE60"/>
                </a:solidFill>
                <a:latin typeface="Ubuntu"/>
              </a:defRPr>
            </a:pPr>
            <a:r>
              <a:t>SCIAN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Sistema de Clasificacion</a:t>
            </a:r>
            <a:br/>
            <a:r>
              <a:t>Industrial de America del Norte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023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555555"/>
                </a:solidFill>
                <a:latin typeface="Ubuntu"/>
              </a:defRPr>
            </a:pPr>
            <a:r>
              <a:t>Clasifica las actividades</a:t>
            </a:r>
            <a:br/>
            <a:r>
              <a:t>economicas / sectores.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E67E22"/>
                </a:solidFill>
                <a:latin typeface="Ubuntu"/>
              </a:defRPr>
            </a:pPr>
            <a:r>
              <a:t>Catalogos</a:t>
            </a:r>
            <a:br/>
            <a:r>
              <a:t>geograficos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000000"/>
                </a:solidFill>
                <a:latin typeface="Ubuntu"/>
              </a:defRPr>
            </a:pPr>
            <a:r>
              <a:t>Entidades, municipios</a:t>
            </a:r>
            <a:br/>
            <a:r>
              <a:t>y localidades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555555"/>
                </a:solidFill>
                <a:latin typeface="Ubuntu"/>
              </a:defRPr>
            </a:pPr>
            <a:r>
              <a:t>Identifican la ubicacion</a:t>
            </a:r>
            <a:br/>
            <a:r>
              <a:t>geografica de las viviendas.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000000"/>
                </a:solidFill>
                <a:latin typeface="Ubuntu"/>
              </a:defRPr>
            </a:pPr>
            <a:r>
              <a:t>Estos catalogos son fundamentales para interpretar correctamente los codigos numericos en las bases de datos.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Documentos importantes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53312"/>
            <a:ext cx="164592" cy="164592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Pagina general: </a:t>
            </a:r>
            <a:r>
              <a:rPr sz="1600" b="0" i="0">
                <a:solidFill>
                  <a:srgbClr val="1E4C7D"/>
                </a:solidFill>
                <a:latin typeface="Ubuntu"/>
              </a:rPr>
              <a:t>https://www.inegi.org.mx/programas/enoe/15ymas/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13432"/>
            <a:ext cx="164592" cy="164592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Microdatos: </a:t>
            </a:r>
            <a:r>
              <a:rPr sz="1600" b="0" i="0">
                <a:solidFill>
                  <a:srgbClr val="000000"/>
                </a:solidFill>
                <a:latin typeface="Ubuntu"/>
              </a:rPr>
              <a:t>Seccion de Microdatos en la pagina del programa ENOE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73552"/>
            <a:ext cx="164592" cy="164592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Tabulados interactivos: </a:t>
            </a:r>
            <a:r>
              <a:rPr sz="1600" b="0" i="0">
                <a:solidFill>
                  <a:srgbClr val="1E4C7D"/>
                </a:solidFill>
                <a:latin typeface="Ubuntu"/>
              </a:rPr>
              <a:t>https://www.inegi.org.mx/app/tabulados/interactivos/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233672"/>
            <a:ext cx="164592" cy="164592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Documentacion conceptual: </a:t>
            </a:r>
            <a:r>
              <a:rPr sz="1600" b="0" i="0">
                <a:solidFill>
                  <a:srgbClr val="000000"/>
                </a:solidFill>
                <a:latin typeface="Ubuntu"/>
              </a:rPr>
              <a:t>Cuestionarios, guias de llenado y diseno muestral disponibles en la pagina del programa.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93792"/>
            <a:ext cx="164592" cy="164592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Ubuntu"/>
              </a:rPr>
              <a:t>Glosario de la ENOE: </a:t>
            </a:r>
            <a:r>
              <a:rPr sz="1600" b="0" i="0">
                <a:solidFill>
                  <a:srgbClr val="000000"/>
                </a:solidFill>
                <a:latin typeface="Ubuntu"/>
              </a:rPr>
              <a:t>Definiciones oficiales de los conceptos utilizados.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Resumen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01168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000000"/>
                </a:solidFill>
                <a:latin typeface="Ubuntu"/>
              </a:defRPr>
            </a:pPr>
            <a:r>
              <a:t>Encuesta continua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Se levanta cada trimestre</a:t>
            </a:r>
            <a:br/>
            <a:r>
              <a:t>desde 2005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71600"/>
            <a:ext cx="201168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000000"/>
                </a:solidFill>
                <a:latin typeface="Ubuntu"/>
              </a:defRPr>
            </a:pPr>
            <a:r>
              <a:t>Cobertura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32 entidades +</a:t>
            </a:r>
            <a:br/>
            <a:r>
              <a:t>39 ciudades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201168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000000"/>
                </a:solidFill>
                <a:latin typeface="Ubuntu"/>
              </a:defRPr>
            </a:pPr>
            <a:r>
              <a:t>Mercado laboral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Empleo, desempleo,</a:t>
            </a:r>
            <a:br/>
            <a:r>
              <a:t>informalidad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371600"/>
            <a:ext cx="201168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000000"/>
                </a:solidFill>
                <a:latin typeface="Ubuntu"/>
              </a:defRPr>
            </a:pPr>
            <a:r>
              <a:t>Panel rotativo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Ubuntu"/>
              </a:defRPr>
            </a:pPr>
            <a:r>
              <a:t>5 visitas por vivienda,</a:t>
            </a:r>
            <a:br/>
            <a:r>
              <a:t>flujos laborales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C7D"/>
                </a:solidFill>
                <a:latin typeface="Ubuntu"/>
              </a:rPr>
              <a:t>La ENOE es la fuente oficial para entender
el mercado laboral de Mexico.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Error estandar e incertidumbre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Cuando estimamos un indicador a partir de una encuesta, el valor obtenido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no es el valor exacto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de la poblacion, sino una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estimacion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basada en una muestra. El </a:t>
            </a:r>
            <a:r>
              <a:rPr sz="1800" b="1" i="0">
                <a:solidFill>
                  <a:srgbClr val="1A7A3A"/>
                </a:solidFill>
                <a:latin typeface="Ubuntu"/>
              </a:rPr>
              <a:t>error estandar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mide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que tan dispersas estarian esas estimaciones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si repitieramos el muestreo muchas veces.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03120"/>
            <a:ext cx="3931920" cy="100584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7A3A"/>
                </a:solidFill>
                <a:latin typeface="Ubuntu"/>
              </a:rPr>
              <a:t>Error estandar pequeno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300" b="0" i="0">
                <a:solidFill>
                  <a:srgbClr val="000000"/>
                </a:solidFill>
                <a:latin typeface="Ubuntu"/>
              </a:rPr>
              <a:t>Estimacion estable y confiable.
Cualquier muestra daria resultado similar.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103120"/>
            <a:ext cx="3931920" cy="100584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1945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Ubuntu"/>
              </a:rPr>
              <a:t>Error estandar grande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300" b="0" i="0">
                <a:solidFill>
                  <a:srgbClr val="000000"/>
                </a:solidFill>
                <a:latin typeface="Ubuntu"/>
              </a:rPr>
              <a:t>Alta variabilidad. Otra muestra podria
dar un resultado muy diferente.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8229600" cy="29260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73152" cy="2926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E4C7D"/>
                </a:solidFill>
                <a:latin typeface="Ubuntu"/>
              </a:rPr>
              <a:t>Por que es IMPORTANTE reportar la incertidumbre?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1. Precision: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un resultado con error de 0.3% es mucho mas confiable que uno con error de 5%.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2. Intervalos de confianza: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el rango donde probablemente esta el valor real (ej. 55.6% ± 1.2%).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3. Comparaciones: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permite saber si la diferencia entre dos grupos es significativa o solo ruido muestral.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500" b="1" i="0">
                <a:solidFill>
                  <a:srgbClr val="000000"/>
                </a:solidFill>
                <a:latin typeface="Ubuntu"/>
              </a:rPr>
              <a:t>4. Estandar internacional: </a:t>
            </a:r>
            <a:r>
              <a:rPr sz="1500" b="0" i="0">
                <a:solidFill>
                  <a:srgbClr val="000000"/>
                </a:solidFill>
                <a:latin typeface="Ubuntu"/>
              </a:rPr>
              <a:t>OIT, Banco Mundial y buenas practicas exigen reportar variabilidad.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300" b="0" i="1">
                <a:solidFill>
                  <a:srgbClr val="555555"/>
                </a:solidFill>
                <a:latin typeface="Ubuntu"/>
              </a:rPr>
              <a:t>En R, las funciones de srvyr (survey_mean, survey_total) calculan automaticamente el error estandar al declarar el diseno de encuesta.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Imputacion de valores faltantes (NAs)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imputacion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es el proceso de reemplazar valores faltantes (NA) con valores estimados. En encuestas como la ENOE, los NAs surgen porque el informante no respondio, hubo errores de captura, o la pregunta no aplico.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8229600" cy="8229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73152" cy="8229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Ubuntu"/>
              </a:rPr>
              <a:t>Por que no simplemente eliminar los NAs? </a:t>
            </a:r>
            <a:r>
              <a:rPr sz="1400" b="0" i="0">
                <a:solidFill>
                  <a:srgbClr val="000000"/>
                </a:solidFill>
                <a:latin typeface="Ubuntu"/>
              </a:rPr>
              <a:t>Porque puede reducir la muestra y perder precision, e introducir sesgo si los datos faltantes no son aleatorios (ej. personas con ingresos altos tienden a no reportarlos).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000000"/>
                </a:solidFill>
                <a:latin typeface="Ubuntu"/>
              </a:defRPr>
            </a:pPr>
            <a:r>
              <a:t>Metodos comunes de imputacion: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383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103120"/>
                <a:gridCol w="219456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Metodo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Descripcion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Ventaja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Ubuntu"/>
                        </a:defRPr>
                      </a:pPr>
                      <a:r>
                        <a:t>Desventaja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Media / 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Reemplaza NA con media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o mediana del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Simple, rapido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Reduce variabilidad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Regresion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Predice el valor con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un modelo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Usa relaciones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entre variables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Puede sobreajustar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Usa los K vecinos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mas cercanos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Respeta relaciones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locales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Costoso en computo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Hot Deck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Reemplaza NA con valor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de un donante similar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Respeta distribucion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Depende del matching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Imputacion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Genera M versiones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y combina resultados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Captura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incertidumbre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Ubuntu"/>
                        </a:defRPr>
                      </a:pPr>
                      <a:r>
                        <a:t>Mas complejo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50292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Metodo Hot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metodo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Hot Deck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 reemplaza cada valor faltante con el valor observado de un </a:t>
            </a:r>
            <a:r>
              <a:rPr sz="1800" b="1" i="0">
                <a:solidFill>
                  <a:srgbClr val="000000"/>
                </a:solidFill>
                <a:latin typeface="Ubuntu"/>
              </a:rPr>
              <a:t>"donante"</a:t>
            </a:r>
            <a:r>
              <a:rPr sz="1800" b="0" i="0">
                <a:solidFill>
                  <a:srgbClr val="000000"/>
                </a:solidFill>
                <a:latin typeface="Ubuntu"/>
              </a:rPr>
              <a:t>: una observacion similar que si tiene respuesta.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651760" cy="12801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1E4C7D"/>
                </a:solidFill>
                <a:latin typeface="Ubuntu"/>
              </a:defRPr>
            </a:pPr>
            <a:r>
              <a:t>Paso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Definir variables de</a:t>
            </a:r>
            <a:br/>
            <a:r>
              <a:t>estratificacion</a:t>
            </a:r>
            <a:br/>
            <a:r>
              <a:t>(sexo, edad, estado)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51760" cy="12801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1E4C7D"/>
                </a:solidFill>
                <a:latin typeface="Ubuntu"/>
              </a:defRPr>
            </a:pPr>
            <a:r>
              <a:t>Paso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Agrupar observaciones</a:t>
            </a:r>
            <a:br/>
            <a:r>
              <a:t>en celdas segun</a:t>
            </a:r>
            <a:br/>
            <a:r>
              <a:t>esas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651760" cy="12801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1E4C7D"/>
                </a:solidFill>
                <a:latin typeface="Ubuntu"/>
              </a:defRPr>
            </a:pPr>
            <a:r>
              <a:t>Paso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Asignar al NA el valor</a:t>
            </a:r>
            <a:br/>
            <a:r>
              <a:t>de un registro aleatorio</a:t>
            </a:r>
            <a:br/>
            <a:r>
              <a:t>con dato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000000"/>
                </a:solidFill>
                <a:latin typeface="Ubuntu"/>
              </a:defRPr>
            </a:pPr>
            <a:r>
              <a:t>Implementacion en 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8229600" cy="26517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7680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F8C8D"/>
                </a:solidFill>
                <a:latin typeface="Courier New"/>
              </a:rPr>
              <a:t># --- Metodo 1: Usando el paquete VIM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library(VIM)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datos_imp &lt;- hotdeck(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data = datos_enoe,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variable = "ingocup",              # Variable a imputar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ord_var = c("sex", "eda", "cs_p13_1"),  # Ordenamiento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domain_var = "ent"                 # Dominio (estrato)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7F8C8D"/>
                </a:solidFill>
                <a:latin typeface="Courier New"/>
              </a:rPr>
              <a:t># --- Metodo 2: Manual con tidyverse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datos_imp &lt;- datos_enoe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group_by(sex, niv_edu, ent)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mutate(ingocup_imp = ifelse(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  is.na(ingocup),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  sample(ingocup[!is.na(ingocup)], 1),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1000" b="0" i="0">
                <a:solidFill>
                  <a:srgbClr val="E0E0E0"/>
                </a:solidFill>
                <a:latin typeface="Courier New"/>
              </a:rPr>
              <a:t>    ingocup)) %&gt;% ungroup()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555555"/>
                </a:solidFill>
                <a:latin typeface="Ubuntu"/>
              </a:defRPr>
            </a:pPr>
            <a:r>
              <a:t>Ventaja clave: los valores imputados son valores reales que alguien reporto, por lo que respetan la distribucion natural de los datos.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Ejercicios: survey_mean y survey_total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1">
                <a:solidFill>
                  <a:srgbClr val="000000"/>
                </a:solidFill>
                <a:latin typeface="Ubuntu"/>
              </a:defRPr>
            </a:pPr>
            <a:r>
              <a:t>Preparacion: cargar datos y declarar diseno de encuesta.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library(tidyverse); library(srvyr)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sdem &lt;- read_csv("SDEMT125.csv"); coe2 &lt;- read_csv("COE2T125.csv")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enoe &lt;- sdem %&gt;% left_join(coe2)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enoe_dis &lt;- enoe %&gt;% as_survey_design(ids=upm, strata=est_d_tri, weights=fac_tri, nest=TRUE)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42062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1E4C7D"/>
                </a:solidFill>
                <a:latin typeface="Ubuntu"/>
              </a:defRPr>
            </a:pPr>
            <a:r>
              <a:t>Ejercicio 1: survey_total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Estima el total de personas</a:t>
            </a:r>
            <a:br/>
            <a:r>
              <a:t>ocupadas en Mexico, por sexo.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3840480" cy="77724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 == 1)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group_by(sex)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summarise(total = survey_total())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286000"/>
            <a:ext cx="42062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27AE60"/>
                </a:solidFill>
                <a:latin typeface="Ubuntu"/>
              </a:defRPr>
            </a:pPr>
            <a:r>
              <a:t>Ejercicio 2: survey_total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Estima el total de desocupados</a:t>
            </a:r>
            <a:br/>
            <a:r>
              <a:t>por entidad federativa.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200400"/>
            <a:ext cx="3840480" cy="77724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246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 == 2)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group_by(ent)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summarise(total = survey_total())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480560"/>
            <a:ext cx="42062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E67E22"/>
                </a:solidFill>
                <a:latin typeface="Ubuntu"/>
              </a:defRPr>
            </a:pPr>
            <a:r>
              <a:t>Ejercicio 3: survey_mean (proporcion)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Calcula la tasa de informalidad</a:t>
            </a:r>
            <a:br/>
            <a:r>
              <a:t>laboral por entidad.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3840480" cy="9144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 == 1)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mutate(inf = as.numeric(emp_ppal==1))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group_by(ent)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summarise(tasa = survey_mean(inf, na.rm=T))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480560"/>
            <a:ext cx="42062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6C3483"/>
                </a:solidFill>
                <a:latin typeface="Ubuntu"/>
              </a:defRPr>
            </a:pPr>
            <a:r>
              <a:t>Ejercicio 4: survey_mean (media)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892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Calcula el ingreso promedio por</a:t>
            </a:r>
            <a:br/>
            <a:r>
              <a:t>nivel educativo.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5394960"/>
            <a:ext cx="3840480" cy="9144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 == 1, ingocup &gt; 0)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group_by(cs_p13_1)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summarise(ing = survey_mean(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  ingocup, na.rm = TRUE))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9436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 bIns="73152"/>
          <a:lstStyle/>
          <a:p>
            <a:pPr algn="ctr">
              <a:defRPr sz="2600" b="1">
                <a:solidFill>
                  <a:srgbClr val="FFFFFF"/>
                </a:solidFill>
                <a:latin typeface="Ubuntu"/>
              </a:defRPr>
            </a:pPr>
            <a:r>
              <a:t>Ejercicios: survey_ratio y survey_quantile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2062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C0392B"/>
                </a:solidFill>
                <a:latin typeface="Ubuntu"/>
              </a:defRPr>
            </a:pPr>
            <a:r>
              <a:t>Ejercicio 5: survey_ratio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Calcula el ingreso por hora</a:t>
            </a:r>
            <a:br/>
            <a:r>
              <a:t>trabajada, por sexo.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840480" cy="109728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filter(clase1==1, ingocup&gt;0, hrsocup&gt;0)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group_by(sex)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summarise(ing_hr = survey_ratio(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  ingocup, hrsocup * 4.33, na.rm=T))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555555"/>
                </a:solidFill>
                <a:latin typeface="Ubuntu"/>
              </a:defRPr>
            </a:pPr>
            <a:r>
              <a:t>Existe brecha salarial por hora?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97280"/>
            <a:ext cx="42062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1ABC9C"/>
                </a:solidFill>
                <a:latin typeface="Ubuntu"/>
              </a:defRPr>
            </a:pPr>
            <a:r>
              <a:t>Ejercicio 6: survey_ratio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Calcula la razon informal/formal</a:t>
            </a:r>
            <a:br/>
            <a:r>
              <a:t>por entidad.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011680"/>
            <a:ext cx="3840480" cy="109728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057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 filter(clase1 == 1)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mutate(inf = as.numeric(emp_ppal==1),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  form = as.numeric(emp_ppal==2))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group_by(ent)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summarise(r = survey_ratio(inf,form,na.rm=T))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555555"/>
                </a:solidFill>
                <a:latin typeface="Ubuntu"/>
              </a:defRPr>
            </a:pPr>
            <a:r>
              <a:t>Razon &gt; 1 = mas informales que formales.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657600"/>
            <a:ext cx="42062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2471A3"/>
                </a:solidFill>
                <a:latin typeface="Ubuntu"/>
              </a:defRPr>
            </a:pPr>
            <a:r>
              <a:t>Ejercicio 7: survey_quantile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Calcula percentiles 25, 50 y 75</a:t>
            </a:r>
            <a:br/>
            <a:r>
              <a:t>del ingreso por ocupacion.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3840480" cy="100584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 == 1, ingocup &gt; 0)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summarise(p = survey_quantile(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  ingocup, c(0.25, 0.50, 0.75),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  na.rm = TRUE))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555555"/>
                </a:solidFill>
                <a:latin typeface="Ubuntu"/>
              </a:defRPr>
            </a:pPr>
            <a:r>
              <a:t>Cual es la mediana del ingreso?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657600"/>
            <a:ext cx="42062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74903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E67E22"/>
                </a:solidFill>
                <a:latin typeface="Ubuntu"/>
              </a:defRPr>
            </a:pPr>
            <a:r>
              <a:t>Ejercicio 8: survey_quantile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000000"/>
                </a:solidFill>
                <a:latin typeface="Ubuntu"/>
              </a:defRPr>
            </a:pPr>
            <a:r>
              <a:t>Calcula la mediana del ingreso</a:t>
            </a:r>
            <a:br/>
            <a:r>
              <a:t>por sexo y nivel educativo.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4572000"/>
            <a:ext cx="3840480" cy="100584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617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Courier New"/>
              </a:rPr>
              <a:t>enoe_dis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filter(clase1 == 1, ingocup &gt; 0)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group_by(sex, cs_p13_1) %&gt;%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summarise(med = survey_quantile(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Ubuntu"/>
              </a:defRPr>
            </a:pPr>
            <a:r>
              <a:rPr sz="900" b="0" i="0">
                <a:solidFill>
                  <a:srgbClr val="E0E0E0"/>
                </a:solidFill>
                <a:latin typeface="Courier New"/>
              </a:rPr>
              <a:t>    ingocup, 0.5, na.rm = TRUE))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6235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555555"/>
                </a:solidFill>
                <a:latin typeface="Ubuntu"/>
              </a:defRPr>
            </a:pPr>
            <a:r>
              <a:t>Donde se observa mayor brecha hombre-mujer?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126480"/>
            <a:ext cx="8229600" cy="54864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126480"/>
            <a:ext cx="73152" cy="54864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Ubuntu"/>
              </a:rPr>
              <a:t>Tip: </a:t>
            </a:r>
            <a:r>
              <a:rPr sz="1200" b="0" i="0">
                <a:solidFill>
                  <a:srgbClr val="000000"/>
                </a:solidFill>
                <a:latin typeface="Ubuntu"/>
              </a:rPr>
              <a:t>Todas estas funciones devuelven automaticamente el error estandar. Usa </a:t>
            </a:r>
            <a:r>
              <a:rPr sz="1200" b="1" i="0">
                <a:solidFill>
                  <a:srgbClr val="000000"/>
                </a:solidFill>
                <a:latin typeface="Courier New"/>
              </a:rPr>
              <a:t>vartype = "ci"</a:t>
            </a:r>
            <a:r>
              <a:rPr sz="1200" b="0" i="0">
                <a:solidFill>
                  <a:srgbClr val="000000"/>
                </a:solidFill>
                <a:latin typeface="Ubuntu"/>
              </a:rPr>
              <a:t> para obtener intervalos de confianza.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